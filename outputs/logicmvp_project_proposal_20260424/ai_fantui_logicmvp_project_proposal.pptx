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440514769b4edc" /><Relationship Type="http://schemas.openxmlformats.org/officeDocument/2006/relationships/extended-properties" Target="/docProps/app.xml" Id="R70331b226fd040fa" /><Relationship Type="http://schemas.openxmlformats.org/officeDocument/2006/relationships/officeDocument" Target="/ppt/presentation.xml" Id="R63aec5870e6443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658f78a77a4273"/>
  </p:sldMasterIdLst>
  <p:notesMasterIdLst>
    <p:notesMasterId xmlns:r="http://schemas.openxmlformats.org/officeDocument/2006/relationships" r:id="R92f9d6d34a8a44db"/>
  </p:notesMasterIdLst>
  <p:sldIdLst>
    <p:sldId xmlns:r="http://schemas.openxmlformats.org/officeDocument/2006/relationships" id="256" r:id="R988bb4f2e8084126"/>
    <p:sldId xmlns:r="http://schemas.openxmlformats.org/officeDocument/2006/relationships" id="257" r:id="Re0b6e7b275dd4174"/>
    <p:sldId xmlns:r="http://schemas.openxmlformats.org/officeDocument/2006/relationships" id="258" r:id="R647b2aaa78324914"/>
    <p:sldId xmlns:r="http://schemas.openxmlformats.org/officeDocument/2006/relationships" id="259" r:id="R4ad760136e2a4892"/>
    <p:sldId xmlns:r="http://schemas.openxmlformats.org/officeDocument/2006/relationships" id="260" r:id="Re61912a9c43646f8"/>
    <p:sldId xmlns:r="http://schemas.openxmlformats.org/officeDocument/2006/relationships" id="261" r:id="R6ced3e08bff3474b"/>
    <p:sldId xmlns:r="http://schemas.openxmlformats.org/officeDocument/2006/relationships" id="262" r:id="Rbf8c9e94928b454c"/>
    <p:sldId xmlns:r="http://schemas.openxmlformats.org/officeDocument/2006/relationships" id="263" r:id="R7ca936a9439a42d0"/>
    <p:sldId xmlns:r="http://schemas.openxmlformats.org/officeDocument/2006/relationships" id="264" r:id="R8b922e2f2991475a"/>
    <p:sldId xmlns:r="http://schemas.openxmlformats.org/officeDocument/2006/relationships" id="265" r:id="R545b117914b744a2"/>
    <p:sldId xmlns:r="http://schemas.openxmlformats.org/officeDocument/2006/relationships" id="266" r:id="Ra22ad89163c347ac"/>
    <p:sldId xmlns:r="http://schemas.openxmlformats.org/officeDocument/2006/relationships" id="267" r:id="Rc11665c5a6a84a4e"/>
    <p:sldId xmlns:r="http://schemas.openxmlformats.org/officeDocument/2006/relationships" id="268" r:id="R096d7c4d49b24fe8"/>
    <p:sldId xmlns:r="http://schemas.openxmlformats.org/officeDocument/2006/relationships" id="269" r:id="R87196230964a4fcc"/>
    <p:sldId xmlns:r="http://schemas.openxmlformats.org/officeDocument/2006/relationships" id="270" r:id="R1ee2c11cbe254f6e"/>
    <p:sldId xmlns:r="http://schemas.openxmlformats.org/officeDocument/2006/relationships" id="271" r:id="R69dd88dda8e444d1"/>
    <p:sldId xmlns:r="http://schemas.openxmlformats.org/officeDocument/2006/relationships" id="272" r:id="R63b2325a47ac49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58f78a77a4273" /><Relationship Type="http://schemas.openxmlformats.org/officeDocument/2006/relationships/theme" Target="/ppt/theme/theme1.xml" Id="R58d37aefa1aa400b" /><Relationship Type="http://schemas.openxmlformats.org/officeDocument/2006/relationships/notesMaster" Target="/ppt/notesMasters/notesMaster1.xml" Id="R92f9d6d34a8a44db" /><Relationship Type="http://schemas.openxmlformats.org/officeDocument/2006/relationships/presProps" Target="/ppt/presProps.xml" Id="Rf761451d18ac4bb1" /><Relationship Type="http://schemas.openxmlformats.org/officeDocument/2006/relationships/viewProps" Target="/ppt/viewProps.xml" Id="R741c46de796c40b3" /><Relationship Type="http://schemas.openxmlformats.org/officeDocument/2006/relationships/tableStyles" Target="/ppt/tableStyles.xml" Id="R00c0f062cf034077" /><Relationship Type="http://schemas.openxmlformats.org/officeDocument/2006/relationships/slide" Target="/ppt/slides/slide1.xml" Id="R988bb4f2e8084126" /><Relationship Type="http://schemas.openxmlformats.org/officeDocument/2006/relationships/slide" Target="/ppt/slides/slide2.xml" Id="Re0b6e7b275dd4174" /><Relationship Type="http://schemas.openxmlformats.org/officeDocument/2006/relationships/slide" Target="/ppt/slides/slide3.xml" Id="R647b2aaa78324914" /><Relationship Type="http://schemas.openxmlformats.org/officeDocument/2006/relationships/slide" Target="/ppt/slides/slide4.xml" Id="R4ad760136e2a4892" /><Relationship Type="http://schemas.openxmlformats.org/officeDocument/2006/relationships/slide" Target="/ppt/slides/slide5.xml" Id="Re61912a9c43646f8" /><Relationship Type="http://schemas.openxmlformats.org/officeDocument/2006/relationships/slide" Target="/ppt/slides/slide6.xml" Id="R6ced3e08bff3474b" /><Relationship Type="http://schemas.openxmlformats.org/officeDocument/2006/relationships/slide" Target="/ppt/slides/slide7.xml" Id="Rbf8c9e94928b454c" /><Relationship Type="http://schemas.openxmlformats.org/officeDocument/2006/relationships/slide" Target="/ppt/slides/slide8.xml" Id="R7ca936a9439a42d0" /><Relationship Type="http://schemas.openxmlformats.org/officeDocument/2006/relationships/slide" Target="/ppt/slides/slide9.xml" Id="R8b922e2f2991475a" /><Relationship Type="http://schemas.openxmlformats.org/officeDocument/2006/relationships/slide" Target="/ppt/slides/slide10.xml" Id="R545b117914b744a2" /><Relationship Type="http://schemas.openxmlformats.org/officeDocument/2006/relationships/slide" Target="/ppt/slides/slide11.xml" Id="Ra22ad89163c347ac" /><Relationship Type="http://schemas.openxmlformats.org/officeDocument/2006/relationships/slide" Target="/ppt/slides/slide12.xml" Id="Rc11665c5a6a84a4e" /><Relationship Type="http://schemas.openxmlformats.org/officeDocument/2006/relationships/slide" Target="/ppt/slides/slide13.xml" Id="R096d7c4d49b24fe8" /><Relationship Type="http://schemas.openxmlformats.org/officeDocument/2006/relationships/slide" Target="/ppt/slides/slide14.xml" Id="R87196230964a4fcc" /><Relationship Type="http://schemas.openxmlformats.org/officeDocument/2006/relationships/slide" Target="/ppt/slides/slide15.xml" Id="R1ee2c11cbe254f6e" /><Relationship Type="http://schemas.openxmlformats.org/officeDocument/2006/relationships/slide" Target="/ppt/slides/slide16.xml" Id="R69dd88dda8e444d1" /><Relationship Type="http://schemas.openxmlformats.org/officeDocument/2006/relationships/slide" Target="/ppt/slides/slide17.xml" Id="R63b2325a47ac49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b6cbe9c638344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f7e4a1d88a4ed0" /><Relationship Type="http://schemas.openxmlformats.org/officeDocument/2006/relationships/notesMaster" Target="/ppt/notesMasters/notesMaster1.xml" Id="Rbacd3813474346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96cf8c18f14f7d" /><Relationship Type="http://schemas.openxmlformats.org/officeDocument/2006/relationships/notesMaster" Target="/ppt/notesMasters/notesMaster1.xml" Id="R98f858fb590c4b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3af51691aa48a8" /><Relationship Type="http://schemas.openxmlformats.org/officeDocument/2006/relationships/notesMaster" Target="/ppt/notesMasters/notesMaster1.xml" Id="Rfc0c355192f448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bd8924a4154df2" /><Relationship Type="http://schemas.openxmlformats.org/officeDocument/2006/relationships/notesMaster" Target="/ppt/notesMasters/notesMaster1.xml" Id="Rd181ea1c88f04b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dd1b4325954d37" /><Relationship Type="http://schemas.openxmlformats.org/officeDocument/2006/relationships/notesMaster" Target="/ppt/notesMasters/notesMaster1.xml" Id="R3f9fb1cef1914f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b6d7a8473849f5" /><Relationship Type="http://schemas.openxmlformats.org/officeDocument/2006/relationships/notesMaster" Target="/ppt/notesMasters/notesMaster1.xml" Id="R968706000b7741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a602cce52b4b9b" /><Relationship Type="http://schemas.openxmlformats.org/officeDocument/2006/relationships/notesMaster" Target="/ppt/notesMasters/notesMaster1.xml" Id="Rb52ce2ba6ec749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a17fa4d5e342c1" /><Relationship Type="http://schemas.openxmlformats.org/officeDocument/2006/relationships/notesMaster" Target="/ppt/notesMasters/notesMaster1.xml" Id="R4764681105fb41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2971b422604ce4" /><Relationship Type="http://schemas.openxmlformats.org/officeDocument/2006/relationships/notesMaster" Target="/ppt/notesMasters/notesMaster1.xml" Id="R8381a0a1096c49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2e1b1ceb454682" /><Relationship Type="http://schemas.openxmlformats.org/officeDocument/2006/relationships/notesMaster" Target="/ppt/notesMasters/notesMaster1.xml" Id="Rb9ba7c6f7fb34b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149ab96b4c46ef" /><Relationship Type="http://schemas.openxmlformats.org/officeDocument/2006/relationships/notesMaster" Target="/ppt/notesMasters/notesMaster1.xml" Id="R16e7a979284245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c1b72184754cbc" /><Relationship Type="http://schemas.openxmlformats.org/officeDocument/2006/relationships/notesMaster" Target="/ppt/notesMasters/notesMaster1.xml" Id="Ra1effa8e2c9042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bc2658fbd64d9b" /><Relationship Type="http://schemas.openxmlformats.org/officeDocument/2006/relationships/notesMaster" Target="/ppt/notesMasters/notesMaster1.xml" Id="R3864bebb41194c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4c4a9994f84a33" /><Relationship Type="http://schemas.openxmlformats.org/officeDocument/2006/relationships/notesMaster" Target="/ppt/notesMasters/notesMaster1.xml" Id="Rac02e932a6e846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986dd2cb8c4462" /><Relationship Type="http://schemas.openxmlformats.org/officeDocument/2006/relationships/notesMaster" Target="/ppt/notesMasters/notesMaster1.xml" Id="R890cfb629fe244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349f4b67b242ae" /><Relationship Type="http://schemas.openxmlformats.org/officeDocument/2006/relationships/notesMaster" Target="/ppt/notesMasters/notesMaster1.xml" Id="Rd805b1a61f994a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01c19c1c124df8" /><Relationship Type="http://schemas.openxmlformats.org/officeDocument/2006/relationships/notesMaster" Target="/ppt/notesMasters/notesMaster1.xml" Id="Ra8f5b4140fb04c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开场只讲三件事：本项目不是替代飞控，不是堆大模型训练集群，而是做航空控制逻辑验证、诊断、审计的数字孪生工作台。后续重点回答预算、周期、算力和阶段成果。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这一页先把申请讲透，不急着讲技术细节。需要明确预算、数据授权、算力资源和阶段成果。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这一页强调行业痛点：复杂、专家瓶颈、证据分散、AI不能直接做安全判断。我们的解决方向是把真值、仿真、诊断和审计变成企业能力。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这里主动说明安全边界：不接管控制，不让AI做真值，不替代现有系统。本项目做验证和审计层。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这一页是整套工作流架构，不展开代码。重点展示资料进入、规格澄清、适配、仿真、诊断、归档的闭环。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这一页回应可视化不足的问题：展示当前已有的真实工作台界面，包括入口、两类工作台、时间线仿真、电路拓扑和MFD面板。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这一页展示两个真实工作台。重点是同一类交互形态可以服务不同控制系统，说明项目不是单页演示。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这一页强调视觉展示面和工程证据面结合。时间线、拓扑图、MFD面板都是真实页面截图。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这一页回应AI风险：AI不是裁判，真值层才是裁判。AI只做解释、检索和报告。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路线图要讲成阶段成果，不讲内部任务编号。重点是每3到6个月都能看到东西，审批风险可控。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这页回答阶段性验收问题：按30天、3个月、6个月、12个月、18个月说明每个阶段的可见成果。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这里给三档，推荐中间档。重点说预算不是一次性全花，可以随阶段拨付。算力费用不按大模型训练集群报，避免审批压力。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这一页给明确答案：首期不新建数据中心。用一个既有数据中心资源池即可；生产验证期预留一主一备；平台化才考虑双中心。GPU分阶段上架，避免一次性重资产。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避免讲复杂组织架构。讲六个交付包和阶段验收。每阶段都要有可演示、可测试、可归档的东西。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风险页要讲得稳：AI、数据、范围、算力、审计都有对应控制。不要承诺零风险，承诺风险被工程化管理。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价值页强调产品化、标准化、复用、国产可控。注意用'目标'而不是绝对承诺，避免过度承诺。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最后直接收口到请求：预算、试点系统、数据中心资源、接口人。不要在最后又回到技术细节。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96ae4237947b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0044851B-5951-42D0-8F88-B3367591370D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12B8B406-3A16-45C6-9C20-05E8F453A25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58A51B-33A7-43D7-B4BA-AAFDD4E9FE5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5C1F17-BE0D-4EC6-BC49-2468336D263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808d242eec34644" /><Relationship Type="http://schemas.openxmlformats.org/officeDocument/2006/relationships/slideLayout" Target="/ppt/slideLayouts/slideLayout2.xml" Id="R733d0bcf3ca541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09E880-0419-48AC-8619-6817857C8FD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3d0bcf3ca541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be2c6ea77b48b2" /><Relationship Type="http://schemas.openxmlformats.org/officeDocument/2006/relationships/notesSlide" Target="/ppt/notesSlides/notesSlide1.xml" Id="R377d316782ef4b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5c9df1f2b24147" /><Relationship Type="http://schemas.openxmlformats.org/officeDocument/2006/relationships/notesSlide" Target="/ppt/notesSlides/notesSlide2.xml" Id="R5b117c6810a541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b3fdce665c4925" /><Relationship Type="http://schemas.openxmlformats.org/officeDocument/2006/relationships/notesSlide" Target="/ppt/notesSlides/notesSlide3.xml" Id="Ra133e0fc5b014e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71fcb1a907484a" /><Relationship Type="http://schemas.openxmlformats.org/officeDocument/2006/relationships/notesSlide" Target="/ppt/notesSlides/notesSlide4.xml" Id="Rd9f35f4f919041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1226e08cc54e83" /><Relationship Type="http://schemas.openxmlformats.org/officeDocument/2006/relationships/notesSlide" Target="/ppt/notesSlides/notesSlide5.xml" Id="R677d645890274a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ed653f42a848a2" /><Relationship Type="http://schemas.openxmlformats.org/officeDocument/2006/relationships/image" Target="/ppt/media/image.png" Id="Rb2cce80e58ab4a65" /><Relationship Type="http://schemas.openxmlformats.org/officeDocument/2006/relationships/image" Target="/ppt/media/image2.png" Id="Re72c86bf93e447e2" /><Relationship Type="http://schemas.openxmlformats.org/officeDocument/2006/relationships/image" Target="/ppt/media/image3.png" Id="R66c0fb1630a4481f" /><Relationship Type="http://schemas.openxmlformats.org/officeDocument/2006/relationships/image" Target="/ppt/media/image4.png" Id="Rff6cd3a4d48e4095" /><Relationship Type="http://schemas.openxmlformats.org/officeDocument/2006/relationships/image" Target="/ppt/media/image5.png" Id="Rd20e4cae57134dc5" /><Relationship Type="http://schemas.openxmlformats.org/officeDocument/2006/relationships/image" Target="/ppt/media/image6.png" Id="Rf8a4e88c753e4253" /><Relationship Type="http://schemas.openxmlformats.org/officeDocument/2006/relationships/notesSlide" Target="/ppt/notesSlides/notesSlide6.xml" Id="Rdf07ff039f7a4e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6ee991f8804c45" /><Relationship Type="http://schemas.openxmlformats.org/officeDocument/2006/relationships/image" Target="/ppt/media/image7.png" Id="Rc10325b9bde04bf7" /><Relationship Type="http://schemas.openxmlformats.org/officeDocument/2006/relationships/image" Target="/ppt/media/image8.png" Id="Ree13239d396e4a29" /><Relationship Type="http://schemas.openxmlformats.org/officeDocument/2006/relationships/notesSlide" Target="/ppt/notesSlides/notesSlide7.xml" Id="R9daa919e5bb642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00e08380f24819" /><Relationship Type="http://schemas.openxmlformats.org/officeDocument/2006/relationships/image" Target="/ppt/media/image9.png" Id="R128f41ee32bf4039" /><Relationship Type="http://schemas.openxmlformats.org/officeDocument/2006/relationships/image" Target="/ppt/media/image10.png" Id="Rc96acf3432ce4fb2" /><Relationship Type="http://schemas.openxmlformats.org/officeDocument/2006/relationships/image" Target="/ppt/media/image11.png" Id="Rb5f8a93ba4fc455d" /><Relationship Type="http://schemas.openxmlformats.org/officeDocument/2006/relationships/image" Target="/ppt/media/image12.png" Id="R65034802197244b9" /><Relationship Type="http://schemas.openxmlformats.org/officeDocument/2006/relationships/notesSlide" Target="/ppt/notesSlides/notesSlide8.xml" Id="R1f842dae955a47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fa06cdaafe4ef1" /><Relationship Type="http://schemas.openxmlformats.org/officeDocument/2006/relationships/notesSlide" Target="/ppt/notesSlides/notesSlide9.xml" Id="Rbac367e7759c4b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6ce409bda84242" /><Relationship Type="http://schemas.openxmlformats.org/officeDocument/2006/relationships/notesSlide" Target="/ppt/notesSlides/notesSlide10.xml" Id="R30d3e7008ec54c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cb13690df0439a" /><Relationship Type="http://schemas.openxmlformats.org/officeDocument/2006/relationships/notesSlide" Target="/ppt/notesSlides/notesSlide11.xml" Id="R7424b85d0e5f43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9175891b1d4421" /><Relationship Type="http://schemas.openxmlformats.org/officeDocument/2006/relationships/notesSlide" Target="/ppt/notesSlides/notesSlide12.xml" Id="R7ecd8274885e4f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ad5896db084026" /><Relationship Type="http://schemas.openxmlformats.org/officeDocument/2006/relationships/notesSlide" Target="/ppt/notesSlides/notesSlide13.xml" Id="Rcbe6206114244a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14da3de2274370" /><Relationship Type="http://schemas.openxmlformats.org/officeDocument/2006/relationships/notesSlide" Target="/ppt/notesSlides/notesSlide14.xml" Id="R0275adbd08ac4d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212654fcf44132" /><Relationship Type="http://schemas.openxmlformats.org/officeDocument/2006/relationships/notesSlide" Target="/ppt/notesSlides/notesSlide15.xml" Id="Ra58fb8f953f945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5bc23b09484297" /><Relationship Type="http://schemas.openxmlformats.org/officeDocument/2006/relationships/notesSlide" Target="/ppt/notesSlides/notesSlide16.xml" Id="R9f8da032f0d345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6a2b59ebed4363" /><Relationship Type="http://schemas.openxmlformats.org/officeDocument/2006/relationships/notesSlide" Target="/ppt/notesSlides/notesSlide17.xml" Id="R919a3bd737bc46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B7FD0-25FD-454C-85B3-C9D24FCB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D6242-140E-42B8-8540-0CCBAC05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29AA9-7375-4014-BEBA-A6CF30EA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98339-8AAC-461C-93FA-A1DE2FD6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720FB-475A-4127-AAA6-5E74A3B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008E2-EA26-47BD-AECA-7A90FC89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4F5B3-CFB4-4C12-8D55-2C111651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25244-0C2A-4754-8F46-8AB6EBC3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D8641-2BE8-408C-A905-E2C9271B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83ACF-B971-4F1E-8DAB-92FE56EC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B1BA2-2FE6-49D9-9D90-98271889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C4B8E-53B9-4DF9-B30A-58947490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9CB81-CF23-40DD-8E1D-CD0FA456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11049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1897C-E8B9-41E2-82A5-2FEEB25D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169926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9BB24-2EAF-4526-BF16-246AFCC0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229362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A0513-8E3B-4F92-9C0C-F08BB157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288798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8E96D-BAB2-43A2-B32C-F0089DCE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348234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A830F-C5DA-4649-94B2-5647744C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4076700"/>
            <a:ext cx="445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BF6C7-00DC-4C1F-A479-4B57238D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1104900"/>
            <a:ext cx="952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DC1AF-D8B5-4D2B-A8B2-BCF6FE76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9913" y="1104900"/>
            <a:ext cx="952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BBA1C-F708-4B51-BD25-A42DA8B4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1104900"/>
            <a:ext cx="952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56A1F-C048-4CF5-B118-CE3282E5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4338" y="1104900"/>
            <a:ext cx="952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D75F52-5E8E-468F-ADF5-5855436B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1104900"/>
            <a:ext cx="952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79976-CCB1-432F-8427-221FCF21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8763" y="1104900"/>
            <a:ext cx="952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0D092C-FF46-4E4A-9FE7-9017F8BC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1104900"/>
            <a:ext cx="952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639A02-66FA-449A-A63C-ABD720C4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3188" y="1104900"/>
            <a:ext cx="952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8DDF80-CEA3-4BB0-BFD1-7604B60D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1104900"/>
            <a:ext cx="952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DB0F5C-FA4B-4B8D-8AB8-CD6CE212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F078C7-BEFC-40E1-8CCF-1AE930F7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00050"/>
            <a:ext cx="11201400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20"/>
          </a:solidFill>
          <a:ln xmlns:a="http://schemas.openxmlformats.org/drawingml/2006/main" w="11430">
            <a:solidFill>
              <a:srgbClr val="16374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ED9326-64BC-4A90-BE4D-4A7492B6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00050"/>
            <a:ext cx="76200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617674-60E4-4B61-9406-F892A337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7810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AI FANTUI LogicMVP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043D9A-A518-4D2E-87E2-C02A5E40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1352550"/>
            <a:ext cx="704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6FAFB"/>
                </a:solidFill>
              </a:defRPr>
            </a:pPr>
            <a:r>
              <a:rPr sz="3450" b="1">
                <a:solidFill>
                  <a:srgbClr val="F6FAFB"/>
                </a:solidFill>
              </a:rPr>
              <a:t>飞控/机电控制逻辑</a:t>
            </a:r>
          </a:p>
          <a:p xmlns:a="http://schemas.openxmlformats.org/drawingml/2006/main">
            <a:pPr algn="l">
              <a:defRPr sz="3450" b="1">
                <a:solidFill>
                  <a:srgbClr val="F6FAFB"/>
                </a:solidFill>
              </a:defRPr>
            </a:pPr>
            <a:r>
              <a:rPr sz="3450" b="1">
                <a:solidFill>
                  <a:srgbClr val="F6FAFB"/>
                </a:solidFill>
              </a:rPr>
              <a:t>数字孪生验证工作台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3E857F-5A91-4D3D-8474-A06A59B3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7813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BB3BA"/>
                </a:solidFill>
              </a:defRPr>
            </a:pPr>
            <a:r>
              <a:rPr sz="1650" b="0">
                <a:solidFill>
                  <a:srgbClr val="9BB3BA"/>
                </a:solidFill>
              </a:rPr>
              <a:t>项目立项申请汇报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5DDC17-577C-49B8-BEC6-BE2B1592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486150"/>
            <a:ext cx="1295400" cy="3238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7"/>
          </a:solidFill>
          <a:ln xmlns:a="http://schemas.openxmlformats.org/drawingml/2006/main" w="9525">
            <a:solidFill>
              <a:srgbClr val="37D98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843CC7-215E-4B66-B680-A630B9D4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5528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7D98B"/>
                </a:solidFill>
              </a:defRPr>
            </a:pPr>
            <a:r>
              <a:rPr sz="975" b="1">
                <a:solidFill>
                  <a:srgbClr val="37D98B"/>
                </a:solidFill>
              </a:rPr>
              <a:t>不替代飞控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2BD365-4280-475F-A10A-FB5DD7FE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3486150"/>
            <a:ext cx="1428750" cy="3238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7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0C87C6-35B1-4C8A-8994-49686501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35528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84B"/>
                </a:solidFill>
              </a:defRPr>
            </a:pPr>
            <a:r>
              <a:rPr sz="975" b="1">
                <a:solidFill>
                  <a:srgbClr val="F2B84B"/>
                </a:solidFill>
              </a:rPr>
              <a:t>不训练大模型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F138B5-1439-4569-A212-E707B544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486150"/>
            <a:ext cx="1809750" cy="3238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7"/>
          </a:solidFill>
          <a:ln xmlns:a="http://schemas.openxmlformats.org/drawingml/2006/main" w="9525">
            <a:solidFill>
              <a:srgbClr val="36E2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3D8043-AE41-447E-91AE-02BECBA9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35528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6E2D6"/>
                </a:solidFill>
              </a:defRPr>
            </a:pPr>
            <a:r>
              <a:rPr sz="975" b="1">
                <a:solidFill>
                  <a:srgbClr val="36E2D6"/>
                </a:solidFill>
              </a:rPr>
              <a:t>做验证与审计底座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678CA2-02E6-4E92-9065-A76EDFF4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305300"/>
            <a:ext cx="2381250" cy="12001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C1B21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D73434-1B05-414A-AD62-96867E77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44577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B3BA"/>
                </a:solidFill>
              </a:defRPr>
            </a:pPr>
            <a:r>
              <a:rPr sz="1050" b="0">
                <a:solidFill>
                  <a:srgbClr val="9BB3BA"/>
                </a:solidFill>
              </a:rPr>
              <a:t>推荐建设周期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893136-0538-4683-99A2-3DE0F7CD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4733925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6E2D6"/>
                </a:solidFill>
              </a:defRPr>
            </a:pPr>
            <a:r>
              <a:rPr sz="2250" b="1">
                <a:solidFill>
                  <a:srgbClr val="36E2D6"/>
                </a:solidFill>
              </a:rPr>
              <a:t>18个月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F43B56-340D-4183-8AA2-BA5D57D9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52006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40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B3BA"/>
                </a:solidFill>
              </a:defRPr>
            </a:pPr>
            <a:r>
              <a:rPr sz="975" b="0">
                <a:solidFill>
                  <a:srgbClr val="9BB3BA"/>
                </a:solidFill>
              </a:rPr>
              <a:t>T0+6个月看到试点，T0+18个月形成生产验证能力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8A20E8-A4F1-4F15-B2E9-7109F1B3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300" y="4305300"/>
            <a:ext cx="2724150" cy="12001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C1B21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6ADEE5-EEFE-413E-ABEE-62040E8A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44577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B3BA"/>
                </a:solidFill>
              </a:defRPr>
            </a:pPr>
            <a:r>
              <a:rPr sz="1050" b="0">
                <a:solidFill>
                  <a:srgbClr val="9BB3BA"/>
                </a:solidFill>
              </a:rPr>
              <a:t>经费测算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22B56F-7A74-4157-A26D-DCE9B2D7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47339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B84B"/>
                </a:solidFill>
              </a:defRPr>
            </a:pPr>
            <a:r>
              <a:rPr sz="2250" b="1">
                <a:solidFill>
                  <a:srgbClr val="F2B84B"/>
                </a:solidFill>
              </a:rPr>
              <a:t>1800–2600万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C83DB9-D7CB-49FA-B599-BDF53BA3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2006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442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B3BA"/>
                </a:solidFill>
              </a:defRPr>
            </a:pPr>
            <a:r>
              <a:rPr sz="975" b="0">
                <a:solidFill>
                  <a:srgbClr val="9BB3BA"/>
                </a:solidFill>
              </a:rPr>
              <a:t>推荐按生产验证型预算申报，采购以正式询价为准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0AEA84-D7E0-4EE5-B098-5C3FDA8D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4305300"/>
            <a:ext cx="2781300" cy="12001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C1B21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6ECF80-AB51-462B-951D-C84F5DF0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44577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B3BA"/>
                </a:solidFill>
              </a:defRPr>
            </a:pPr>
            <a:r>
              <a:rPr sz="1050" b="0">
                <a:solidFill>
                  <a:srgbClr val="9BB3BA"/>
                </a:solidFill>
              </a:rPr>
              <a:t>算力资源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6DCB21-B4D0-45AD-B2AD-CB7E5C1B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4733925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D98B"/>
                </a:solidFill>
              </a:defRPr>
            </a:pPr>
            <a:r>
              <a:rPr sz="2250" b="1">
                <a:solidFill>
                  <a:srgbClr val="37D98B"/>
                </a:solidFill>
              </a:rPr>
              <a:t>既有数据中心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2069BD-789C-4B53-9DD5-287C75AF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52006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8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B3BA"/>
                </a:solidFill>
              </a:defRPr>
            </a:pPr>
            <a:r>
              <a:rPr sz="975" b="0">
                <a:solidFill>
                  <a:srgbClr val="9BB3BA"/>
                </a:solidFill>
              </a:rPr>
              <a:t>首期不新建大型训练中心，按资源池分阶段扩容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E0A832-F386-453F-8AA0-B1A42129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1162050"/>
            <a:ext cx="3486150" cy="23241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B1D24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7D7C8C-148B-4D92-85BC-1E029331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1466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项目一句话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BD84B8-CD1A-45D0-B823-44028B82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1885950"/>
            <a:ext cx="2724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11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B"/>
                </a:solidFill>
              </a:defRPr>
            </a:pPr>
            <a:r>
              <a:rPr sz="1800" b="1">
                <a:solidFill>
                  <a:srgbClr val="F6FAFB"/>
                </a:solidFill>
              </a:rPr>
              <a:t>把复杂控制逻辑的“人工经验验证”，升级为可复现、可审计、可扩展的数字孪生验证工作台。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6F26DF-300A-47EF-B0AA-4FE30F69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8956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B3BA"/>
                </a:solidFill>
              </a:defRPr>
            </a:pPr>
            <a:r>
              <a:rPr sz="975" b="0">
                <a:solidFill>
                  <a:srgbClr val="9BB3BA"/>
                </a:solidFill>
              </a:rPr>
              <a:t>当前已有样机基础：C919 电反推逻辑工作台、时间线仿真、适配器边界、765项测试通过。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039579-FA6C-497D-9BCC-EE2DEC69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5715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2026-04-25</a:t>
            </a:r>
          </a:p>
        </p:txBody>
      </p:sp>
    </p:spTree>
    <p:extLst>
      <p:ext uri="{BB962C8B-B14F-4D97-AF65-F5344CB8AC3E}">
        <p14:creationId xmlns:p14="http://schemas.microsoft.com/office/powerpoint/2010/main" val="18637029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B3F67-A814-4578-8380-FF08F036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552FD-FCCA-4302-8B31-0B8840D6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EF945-4CDB-4105-99EA-E776F735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F223F-05F7-4976-BBC4-56A1C0FD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AF36E-7A53-49D4-8456-A34F2B19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2BE60-846B-4F88-9122-3193D8C1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33908-2401-4C8C-AC77-4B06213E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FD9FA-92A3-40C6-A810-5B073529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DF24D-EFCD-468B-8D57-0A27C0F7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E0720-310A-4631-AE37-4C6FEDD4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03204-DFBF-40E1-83C2-1BC06363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0ED29-C265-4DA7-8144-96A3C6CE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EC344-5043-4AFD-89C4-777D1D5E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Executive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19353-E765-4147-81A4-E481E0EF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本次立项申请的关键事项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C0822-090E-40CE-8AE5-3275CF78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1676400"/>
            <a:ext cx="4857750" cy="12001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72E30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3145D-AE63-4E83-8069-9C0DC464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18478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B84B"/>
                </a:solidFill>
              </a:defRPr>
            </a:pPr>
            <a:r>
              <a:rPr sz="1950" b="1">
                <a:solidFill>
                  <a:srgbClr val="F2B84B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9E357-FAB1-4E2D-A505-C8BB6737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1866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AFB"/>
                </a:solidFill>
              </a:defRPr>
            </a:pPr>
            <a:r>
              <a:rPr sz="1725" b="1">
                <a:solidFill>
                  <a:srgbClr val="F6FAFB"/>
                </a:solidFill>
              </a:rPr>
              <a:t>立项预算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AC846-7028-4122-B229-F00AC2C4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2479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3BA"/>
                </a:solidFill>
              </a:defRPr>
            </a:pPr>
            <a:r>
              <a:rPr sz="1275" b="0">
                <a:solidFill>
                  <a:srgbClr val="9BB3BA"/>
                </a:solidFill>
              </a:rPr>
              <a:t>建议按18个月生产验证型申报：1800–2600万元，推荐中值2200万元。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4A029-1C77-40C1-A3E1-93D103A5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1676400"/>
            <a:ext cx="4857750" cy="12001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232B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A0AF2-7CD6-44BD-A50A-D848CC30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18478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E2D6"/>
                </a:solidFill>
              </a:defRPr>
            </a:pPr>
            <a:r>
              <a:rPr sz="1950" b="1">
                <a:solidFill>
                  <a:srgbClr val="36E2D6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CAA03-4BB6-441C-8BB3-03176C52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1866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AFB"/>
                </a:solidFill>
              </a:defRPr>
            </a:pPr>
            <a:r>
              <a:rPr sz="1725" b="1">
                <a:solidFill>
                  <a:srgbClr val="F6FAFB"/>
                </a:solidFill>
              </a:rPr>
              <a:t>试点范围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082B2-B9C1-4381-A5F9-63D2DA31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22479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3BA"/>
                </a:solidFill>
              </a:defRPr>
            </a:pPr>
            <a:r>
              <a:rPr sz="1275" b="0">
                <a:solidFill>
                  <a:srgbClr val="9BB3BA"/>
                </a:solidFill>
              </a:rPr>
              <a:t>先选1个真实子系统做PoC，再扩至3–5个子系统进入生产验证。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EA3FE8-D360-4BF0-83DE-7BF852D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257550"/>
            <a:ext cx="4857750" cy="12001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232B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38F28C-4D01-46EB-A5D6-2C8C420F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342900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E2D6"/>
                </a:solidFill>
              </a:defRPr>
            </a:pPr>
            <a:r>
              <a:rPr sz="1950" b="1">
                <a:solidFill>
                  <a:srgbClr val="36E2D6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4F3E16-E27A-434C-858D-D6D49E07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3448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AFB"/>
                </a:solidFill>
              </a:defRPr>
            </a:pPr>
            <a:r>
              <a:rPr sz="1725" b="1">
                <a:solidFill>
                  <a:srgbClr val="F6FAFB"/>
                </a:solidFill>
              </a:rPr>
              <a:t>算力资源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555188-36FF-4641-9D7E-A18F2BAA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38290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3BA"/>
                </a:solidFill>
              </a:defRPr>
            </a:pPr>
            <a:r>
              <a:rPr sz="1275" b="0">
                <a:solidFill>
                  <a:srgbClr val="9BB3BA"/>
                </a:solidFill>
              </a:rPr>
              <a:t>首期使用既有数据中心资源池；生产验证期配置4–8张数据中心GPU。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E7C35E-3709-4525-946D-520FA9DE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257550"/>
            <a:ext cx="4857750" cy="12001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232B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1941B-AC13-4EEA-B830-B101C9D2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342900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E2D6"/>
                </a:solidFill>
              </a:defRPr>
            </a:pPr>
            <a:r>
              <a:rPr sz="1950" b="1">
                <a:solidFill>
                  <a:srgbClr val="36E2D6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938CCB-D851-42AC-8E53-F1248E60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3448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AFB"/>
                </a:solidFill>
              </a:defRPr>
            </a:pPr>
            <a:r>
              <a:rPr sz="1725" b="1">
                <a:solidFill>
                  <a:srgbClr val="F6FAFB"/>
                </a:solidFill>
              </a:rPr>
              <a:t>数据授权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3A1656-2120-4986-8B13-23D668C7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38290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3BA"/>
                </a:solidFill>
              </a:defRPr>
            </a:pPr>
            <a:r>
              <a:rPr sz="1275" b="0">
                <a:solidFill>
                  <a:srgbClr val="9BB3BA"/>
                </a:solidFill>
              </a:rPr>
              <a:t>提供规范文档、典型故障场景、验证流程样例，不要求敏感飞控源码外传。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634F72-1730-4CD7-A9D1-CFA531EE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5067300"/>
            <a:ext cx="10191750" cy="6477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1F25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5A744B-B5BF-4CE0-BACC-A37B957D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52387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84B"/>
                </a:solidFill>
              </a:defRPr>
            </a:pPr>
            <a:r>
              <a:rPr sz="1275" b="1">
                <a:solidFill>
                  <a:srgbClr val="F2B84B"/>
                </a:solidFill>
              </a:rPr>
              <a:t>推荐审批口径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698B3F-5CB6-4940-A5B3-5D5F7B8D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5229225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64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AFB"/>
                </a:solidFill>
              </a:defRPr>
            </a:pPr>
            <a:r>
              <a:rPr sz="1650" b="1">
                <a:solidFill>
                  <a:srgbClr val="F6FAFB"/>
                </a:solidFill>
              </a:rPr>
              <a:t>“先试点、后生产验证、再平台化”：资金分阶段拨付，算力分阶段上架，成果每3–6个月可见。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2A5353-310B-4946-95E3-2B9A969B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2D32FB-7DC4-4DBC-8283-E5EDF076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B023D9-6445-4DFC-99E6-DBC38B78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5833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371F1-7881-4B85-800A-07389BE0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5F695-25C6-4E31-9CB5-766214F9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F6EA2-949A-4CFA-AF97-9FAD4825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FBCF5-61C2-4760-94F0-1D8F1DF1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ECBB5-04DA-4A48-A6CF-6DFB9B61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87959-F5FE-46FD-AFC3-8D491D70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2F4FE-A9EC-4F87-910C-E69EAE6B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F8DA2-CBEE-4318-B0FD-E1710594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D19A6-3A6D-439C-B385-268698C8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672A7-C538-47BE-BB0C-7178714B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27F27-9D09-4ACF-B175-A4609045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938DA-4D25-4CC3-97E0-BC1ADC91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B1D00-4454-4406-9736-40E2B652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Strategic problem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530A3-F7C1-4EC3-B3D2-C3C88EF8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为什么现在需要这个项目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DA802-333A-43B5-8151-4BE3F6C2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5430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E2D6"/>
                </a:solidFill>
              </a:defRPr>
            </a:pPr>
            <a:r>
              <a:rPr sz="1650" b="1">
                <a:solidFill>
                  <a:srgbClr val="36E2D6"/>
                </a:solidFill>
              </a:rPr>
              <a:t>系统复杂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F3896-7A77-4241-900D-08FF8A6E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15240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AFB"/>
                </a:solidFill>
              </a:defRPr>
            </a:pPr>
            <a:r>
              <a:rPr sz="1275" b="0">
                <a:solidFill>
                  <a:srgbClr val="F6FAFB"/>
                </a:solidFill>
              </a:rPr>
              <a:t>一条控制链路跨传感器、执行机构、状态门限、保护逻辑，人工审查容易漏条件。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2BFB9-0F0E-4988-A5EF-D44AADCC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0574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E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6FC18C-18BA-422E-A8B8-00EB78AC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5146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E2D6"/>
                </a:solidFill>
              </a:defRPr>
            </a:pPr>
            <a:r>
              <a:rPr sz="1650" b="1">
                <a:solidFill>
                  <a:srgbClr val="36E2D6"/>
                </a:solidFill>
              </a:rPr>
              <a:t>专家瓶颈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3F439-6ECC-4976-ACE0-2D634251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4955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AFB"/>
                </a:solidFill>
              </a:defRPr>
            </a:pPr>
            <a:r>
              <a:rPr sz="1275" b="0">
                <a:solidFill>
                  <a:srgbClr val="F6FAFB"/>
                </a:solidFill>
              </a:rPr>
              <a:t>关键诊断依赖少数专家经验，问题复现和传承成本高。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0F5CD-481D-46DD-8872-FBC38E36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0289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E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E2D87-95F2-4910-B685-866ECB30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486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E2D6"/>
                </a:solidFill>
              </a:defRPr>
            </a:pPr>
            <a:r>
              <a:rPr sz="1650" b="1">
                <a:solidFill>
                  <a:srgbClr val="36E2D6"/>
                </a:solidFill>
              </a:rPr>
              <a:t>证据分散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B148D2-DD9C-48D1-8D3A-E645406E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34671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AFB"/>
                </a:solidFill>
              </a:defRPr>
            </a:pPr>
            <a:r>
              <a:rPr sz="1275" b="0">
                <a:solidFill>
                  <a:srgbClr val="F6FAFB"/>
                </a:solidFill>
              </a:rPr>
              <a:t>文档、仿真、测试、评审、故障记录分散，难形成可复用资产。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A8992-9530-4707-BC6D-96DEFB2B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0005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E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EED94-1C9B-4DF4-83B7-C1962489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4577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</a:defRPr>
            </a:pPr>
            <a:r>
              <a:rPr sz="1650" b="1">
                <a:solidFill>
                  <a:srgbClr val="F2B84B"/>
                </a:solidFill>
              </a:rPr>
              <a:t>AI不可裸用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525C19-E08F-47B3-B75E-51241871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4386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AFB"/>
                </a:solidFill>
              </a:defRPr>
            </a:pPr>
            <a:r>
              <a:rPr sz="1275" b="0">
                <a:solidFill>
                  <a:srgbClr val="F6FAFB"/>
                </a:solidFill>
              </a:rPr>
              <a:t>安全关键系统不能让概率模型直接给出真值判断。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5472CE-5C00-4ACF-9D49-8AEE2030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9720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E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4EA20E-AE20-4C41-AAFE-D798FC5E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1466850"/>
            <a:ext cx="3905250" cy="34099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C1B20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C91626-78A1-441E-A452-5B95789C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1809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7D98B"/>
                </a:solidFill>
              </a:defRPr>
            </a:pPr>
            <a:r>
              <a:rPr sz="1500" b="1">
                <a:solidFill>
                  <a:srgbClr val="37D98B"/>
                </a:solidFill>
              </a:rPr>
              <a:t>立项窗口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4C088C-4674-4CF7-BF7F-C2023D8B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2209800"/>
            <a:ext cx="2990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86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AFB"/>
                </a:solidFill>
              </a:defRPr>
            </a:pPr>
            <a:r>
              <a:rPr sz="2025" b="1">
                <a:solidFill>
                  <a:srgbClr val="F6FAFB"/>
                </a:solidFill>
              </a:rPr>
              <a:t>把“单点演示样机”升级为“企业级验证能力”，越早建设，越早沉淀跨系统控制逻辑资产。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E96F5-F462-4881-B063-706E39DE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32766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E7B551-5F87-46DF-A9E3-E21A10BF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3486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核心判断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24024A-008D-427C-8156-9F9547DD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38100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3BA"/>
                </a:solidFill>
              </a:defRPr>
            </a:pPr>
            <a:r>
              <a:rPr sz="1350" b="0">
                <a:solidFill>
                  <a:srgbClr val="9BB3BA"/>
                </a:solidFill>
              </a:rPr>
              <a:t>本项目的价值不在“炫技”，而在把验证过程标准化、证据化、可审计化。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F17432-C41F-44BF-87C9-BDF3B94A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25011F-EEB5-4DC5-841D-D30E57A0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5CD97B-F9ED-49A1-985B-CF274192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16151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452F8-2AE9-4996-A773-C1BFEACE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794F5-49BB-4DA5-864A-8AED50FA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A6F98-9492-49A5-99BE-EE08FE6D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9E4F6-2E66-4B71-820C-797A0CD3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4BD28-500E-450E-9CEE-796BB794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694E3-6039-41AC-A850-6F89D388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E44EA-0E0E-4A32-B72B-6CED942B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F47CB-188B-4D24-93B0-86C1C815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D711B-C47E-42A6-9AB6-4F617E13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96F9D-97EF-4FB7-8EDE-F9B78193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994FB-BB29-4041-A372-26176310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1B32F-736D-4CC7-AD85-E013343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DB0E3-083A-4CC8-8DDE-E291C2D1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Positioning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B121F-731A-4B2F-95AA-4E5A5A53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项目定位：做验证工作台，不做飞控替代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C1C92-B4FF-481C-AF4D-2834B631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1504950"/>
            <a:ext cx="4705350" cy="37338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71D21"/>
          </a:solidFill>
          <a:ln xmlns:a="http://schemas.openxmlformats.org/drawingml/2006/main" w="11430">
            <a:solidFill>
              <a:srgbClr val="E95E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FA4F7-192E-48E7-A03A-27815140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1809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95E63"/>
                </a:solidFill>
              </a:defRPr>
            </a:pPr>
            <a:r>
              <a:rPr sz="1800" b="1">
                <a:solidFill>
                  <a:srgbClr val="E95E63"/>
                </a:solidFill>
              </a:rPr>
              <a:t>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49ABB-8731-4DCE-B8E3-C6424B23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3431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F6CEB-D4A6-483E-B348-DD14AF60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20980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AFB"/>
                </a:solidFill>
              </a:defRPr>
            </a:pPr>
            <a:r>
              <a:rPr sz="1500" b="0">
                <a:solidFill>
                  <a:srgbClr val="F6FAFB"/>
                </a:solidFill>
              </a:rPr>
              <a:t>不接管飞机控制命令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26BE2-03A2-48FC-9204-8D252BED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8956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EAB11F-C165-4D64-8780-1DBF82E4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76225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AFB"/>
                </a:solidFill>
              </a:defRPr>
            </a:pPr>
            <a:r>
              <a:rPr sz="1500" b="0">
                <a:solidFill>
                  <a:srgbClr val="F6FAFB"/>
                </a:solidFill>
              </a:rPr>
              <a:t>不让AI决定控制逻辑真值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09F66C-A872-4AC3-B184-D5583417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34480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3A206F-C1CE-4D7B-84EF-65034372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331470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AFB"/>
                </a:solidFill>
              </a:defRPr>
            </a:pPr>
            <a:r>
              <a:rPr sz="1500" b="0">
                <a:solidFill>
                  <a:srgbClr val="F6FAFB"/>
                </a:solidFill>
              </a:rPr>
              <a:t>不替代现有PLM/MBSE工具链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05715E-EDBD-4BBF-A77D-79A8A09F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0005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90A8E3-4040-4991-81B4-D3311A6F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386715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AFB"/>
                </a:solidFill>
              </a:defRPr>
            </a:pPr>
            <a:r>
              <a:rPr sz="1500" b="0">
                <a:solidFill>
                  <a:srgbClr val="F6FAFB"/>
                </a:solidFill>
              </a:rPr>
              <a:t>不在首期训练基础大模型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25962-A39E-46E6-856A-6251F157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1504950"/>
            <a:ext cx="4705350" cy="37338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E272A"/>
          </a:solidFill>
          <a:ln xmlns:a="http://schemas.openxmlformats.org/drawingml/2006/main" w="11430">
            <a:solidFill>
              <a:srgbClr val="37D9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B66A22-AE25-4D73-BC78-1E37BA59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1809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7D98B"/>
                </a:solidFill>
              </a:defRPr>
            </a:pPr>
            <a:r>
              <a:rPr sz="1800" b="1">
                <a:solidFill>
                  <a:srgbClr val="37D98B"/>
                </a:solidFill>
              </a:rPr>
              <a:t>建设内容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74BF0A-01F2-4053-B83D-B213F3CC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9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88E382-56E1-43CE-8F91-6461D2F2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21717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AFB"/>
                </a:solidFill>
              </a:defRPr>
            </a:pPr>
            <a:r>
              <a:rPr sz="1500" b="0">
                <a:solidFill>
                  <a:srgbClr val="F6FAFB"/>
                </a:solidFill>
              </a:rPr>
              <a:t>把规范文档转成可执行验证对象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6F4673-24B9-468C-9D6D-5765D065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9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F7E73-7E1D-4247-8AC8-55C14164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27241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AFB"/>
                </a:solidFill>
              </a:defRPr>
            </a:pPr>
            <a:r>
              <a:rPr sz="1500" b="0">
                <a:solidFill>
                  <a:srgbClr val="F6FAFB"/>
                </a:solidFill>
              </a:rPr>
              <a:t>用确定性真值引擎跑仿真与故障注入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1C3B66-6A44-48F4-B4A6-1D0FA88F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3352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9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EB05C0-B300-4325-A702-EDB4C3F9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32766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AFB"/>
                </a:solidFill>
              </a:defRPr>
            </a:pPr>
            <a:r>
              <a:rPr sz="1500" b="0">
                <a:solidFill>
                  <a:srgbClr val="F6FAFB"/>
                </a:solidFill>
              </a:rPr>
              <a:t>自动生成诊断证据与审计包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6ED5E6-076E-4C66-9E22-F3F22730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3905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9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13047B-6707-4933-9BCF-35C82FDB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3829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AFB"/>
                </a:solidFill>
              </a:defRPr>
            </a:pPr>
            <a:r>
              <a:rPr sz="1500" b="0">
                <a:solidFill>
                  <a:srgbClr val="F6FAFB"/>
                </a:solidFill>
              </a:rPr>
              <a:t>逐步沉淀跨系统知识资产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DF9236-3E77-4831-B705-019D68DA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5600700"/>
            <a:ext cx="8229600" cy="4381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A171C"/>
          </a:solidFill>
          <a:ln xmlns:a="http://schemas.openxmlformats.org/drawingml/2006/main" w="9525">
            <a:solidFill>
              <a:srgbClr val="00B7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C65A72-C54E-47FA-8141-7C9D389D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5715000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E2D6"/>
                </a:solidFill>
              </a:defRPr>
            </a:pPr>
            <a:r>
              <a:rPr sz="1575" b="1">
                <a:solidFill>
                  <a:srgbClr val="36E2D6"/>
                </a:solidFill>
              </a:rPr>
              <a:t>一句话定位：安全关键控制逻辑的“验证、诊断、证据、复用”工作台。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ED4015-1658-4862-80F0-50A4800A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E0F130-7D9F-4BF1-925E-C4522F72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C0652B-A099-45C2-A080-88C6E0EF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976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21DE2-4E49-424D-8264-1AF79BB9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B36E0-808D-4FFD-A65B-A983D599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94942-8851-4E20-A958-4E9F9075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CF526-4222-4BB5-ADA9-980F31CD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A6BE8-542F-42D3-901C-501AA872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E6A3E-7985-4C42-957C-DBACE22F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40F4C-E850-4049-AE0E-B4F7B65A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3B29D-5171-47DF-8318-1A672A90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1B876-DCDF-4129-AF78-8537775B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C6A74-11FB-4D37-9CAB-FC36BEF1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BAE4F-C538-4876-9661-DC8034CE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F4BDD-F749-48E2-8A5D-4D0CEA89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2E15A-B15B-47C3-8053-B082B27A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Workflow architecture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568A8-8F8E-4814-BB35-79DEECBB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项目工作流架构：从规范到验证证据闭环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A29E8-3109-48DE-AE7D-50312A3E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266950"/>
            <a:ext cx="1428750" cy="14287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252B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D8367-9007-4F1B-9564-B518B233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57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E2D6"/>
                </a:solidFill>
              </a:defRPr>
            </a:pPr>
            <a:r>
              <a:rPr sz="1650" b="1">
                <a:solidFill>
                  <a:srgbClr val="36E2D6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CFF59-0573-40C8-9B81-0017217B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4765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资料输入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0E6CF-6D40-4516-8A0C-E2BCD55E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952750"/>
            <a:ext cx="104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规范文档</a:t>
            </a:r>
          </a:p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故障记录</a:t>
            </a:r>
          </a:p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试验流程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E84E2-BF96-4124-9DD0-A48E7BC3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2800350"/>
            <a:ext cx="4000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0F4C8-C4BA-425B-A779-A72CB509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2266950"/>
            <a:ext cx="1428750" cy="14287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32D31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A51AD-B0BF-4E4F-980C-F2C4D970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2457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E2D6"/>
                </a:solidFill>
              </a:defRPr>
            </a:pPr>
            <a:r>
              <a:rPr sz="1650" b="1">
                <a:solidFill>
                  <a:srgbClr val="36E2D6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F6B1D4-72B2-4A0D-A2E9-1B47C977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24765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规格澄清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05C32-80C2-495D-8D49-E9881BAA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2952750"/>
            <a:ext cx="104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节点/门限</a:t>
            </a:r>
          </a:p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歧义确认</a:t>
            </a:r>
          </a:p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版本冻结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26D0F2-EA94-4AD6-AF39-97DDB2E0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2800350"/>
            <a:ext cx="4000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861EF0-64BA-41FF-BDFE-E05463E5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2266950"/>
            <a:ext cx="1428750" cy="14287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252B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4CE9B4-2A5A-4F9B-971C-441478C5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457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E2D6"/>
                </a:solidFill>
              </a:defRPr>
            </a:pPr>
            <a:r>
              <a:rPr sz="1650" b="1">
                <a:solidFill>
                  <a:srgbClr val="36E2D6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6526FE-E810-48D1-AA6C-4B0E3312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24765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系统适配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5CE028-C969-4FFB-82CD-837136F0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952750"/>
            <a:ext cx="104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真值接口</a:t>
            </a:r>
          </a:p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硬件映射</a:t>
            </a:r>
          </a:p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元数据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D66F37-A4E9-4187-88CA-7FFB01E4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2800350"/>
            <a:ext cx="4000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E15052-093D-466C-A41D-3773AACB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266950"/>
            <a:ext cx="1428750" cy="14287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32D31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F1432A-1255-41C7-86BD-A091B7B4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2457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</a:defRPr>
            </a:pPr>
            <a:r>
              <a:rPr sz="1650" b="1">
                <a:solidFill>
                  <a:srgbClr val="F2B84B"/>
                </a:solidFill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9A365B-EB91-4BF7-85C3-9FA33E03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24765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20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时间线仿真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B3BEE8-E5AB-4B5B-B223-99A343E3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2952750"/>
            <a:ext cx="104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指令/状态表</a:t>
            </a:r>
          </a:p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故障注入</a:t>
            </a:r>
          </a:p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批量回放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ED804E-609F-4908-A5AE-ACEACCCB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2800350"/>
            <a:ext cx="4000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E3A2F2-CCC5-4454-9E39-E7B3456A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2266950"/>
            <a:ext cx="1428750" cy="14287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252B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3CC370-55FF-487B-90D0-0813940E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457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</a:defRPr>
            </a:pPr>
            <a:r>
              <a:rPr sz="1650" b="1">
                <a:solidFill>
                  <a:srgbClr val="F2B84B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9B298C-D6A8-48F1-9D62-CC36241C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24765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20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诊断与知识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16A030-FCFD-4A2B-8358-A2745767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952750"/>
            <a:ext cx="104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根因链路</a:t>
            </a:r>
          </a:p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修复建议</a:t>
            </a:r>
          </a:p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知识沉淀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0CF3B9-304E-48FA-94FB-632EE5D4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2800350"/>
            <a:ext cx="4000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9A3548-D172-4B90-A3F3-D0963612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2266950"/>
            <a:ext cx="1428750" cy="14287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32D31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AE7894-CDDE-4A4F-A924-EE46F038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2457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</a:defRPr>
            </a:pPr>
            <a:r>
              <a:rPr sz="1650" b="1">
                <a:solidFill>
                  <a:srgbClr val="F2B84B"/>
                </a:solidFill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EDCC19-7AF9-4FB3-B62D-CB92CD73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00" y="24765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审计归档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A52931-9EE9-4491-AA65-40882686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2952750"/>
            <a:ext cx="104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报告包</a:t>
            </a:r>
          </a:p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哈希/版本</a:t>
            </a:r>
          </a:p>
          <a:p xmlns:a="http://schemas.openxmlformats.org/drawingml/2006/main">
            <a:pPr algn="ctr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可复现证据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12DC7B-5315-4172-AFD5-93065462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4196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E2D6"/>
                </a:solidFill>
              </a:defRPr>
            </a:pPr>
            <a:r>
              <a:rPr sz="1275" b="1">
                <a:solidFill>
                  <a:srgbClr val="36E2D6"/>
                </a:solidFill>
              </a:rPr>
              <a:t>工程真值层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7A5550-A344-42EA-8948-1D65F354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4524375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EABD92-3144-4C15-BA09-5423AB59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4419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确定性计算，所有关键判断可复现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0AE19B-841E-4DEB-A17D-0B279B51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9339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84B"/>
                </a:solidFill>
              </a:defRPr>
            </a:pPr>
            <a:r>
              <a:rPr sz="1275" b="1">
                <a:solidFill>
                  <a:srgbClr val="F2B84B"/>
                </a:solidFill>
              </a:rPr>
              <a:t>仿真验证层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1AFF27-4505-4994-ABCE-CAC5BE21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5038725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BF2D95-37F6-4C1D-ABF5-87C68040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4933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把场景、故障、批量回放变成证据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C3B683-46CF-4DE4-9459-645CAA65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448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D98B"/>
                </a:solidFill>
              </a:defRPr>
            </a:pPr>
            <a:r>
              <a:rPr sz="1275" b="1">
                <a:solidFill>
                  <a:srgbClr val="37D98B"/>
                </a:solidFill>
              </a:rPr>
              <a:t>知识审计层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042646-819F-4755-9FE2-951C311D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5553075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9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F34CE2-FB63-41E1-A0F2-48955F5A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5448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沉淀经验，形成报告、追溯和复用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1D839D2-C476-4D98-817B-09F323FA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969A6E-547B-4894-98C1-9B0E576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05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BC2A0AC-C90A-4A62-91A0-0924A6D7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4575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315B5-519C-4BC4-8C00-453F3EF2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25A6C-91EF-49B5-9771-2C006D55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ECE73-5529-42DF-9BDD-E947B484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5BD8C-E49D-44AC-83B4-15874F3A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510DE-E5A3-462A-9FD0-D743CB51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2DB68-BD44-4DC3-8DF0-272BBFC0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390A2-1513-453C-96F0-644B2060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52AC3-53B5-4146-AA55-87EA5E78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D2E40-D91C-4C54-9335-787284AE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2E47D-3A38-4D9D-9A4C-8E5A9832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2A99D-3E27-4061-9F34-AD07DCB8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9705A-31CD-4DB8-B63A-BC72B972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ECC43-AF27-4A56-865A-8DFF9498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Current workbench surfaces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F6A8F-5DC7-40B5-BE5B-D18BA1B8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真实工作台界面总览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ce80e58ab4a65"/>
          <a:srcRect xmlns:a="http://schemas.openxmlformats.org/drawingml/2006/main" l="0" t="4217" r="0" b="4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09700"/>
            <a:ext cx="3162300" cy="1809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05061-4B5F-471A-AAF9-D17410C6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09700"/>
            <a:ext cx="3162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F6C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9A28F-7316-488D-94B0-977B4A73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0970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75C73-FA4E-40D1-B990-4D33E4DC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1476375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2D6"/>
                </a:solidFill>
              </a:defRPr>
            </a:pPr>
            <a:r>
              <a:rPr sz="975" b="1">
                <a:solidFill>
                  <a:srgbClr val="36E2D6"/>
                </a:solidFill>
              </a:rPr>
              <a:t>统一入口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c86bf93e447e2"/>
          <a:srcRect xmlns:a="http://schemas.openxmlformats.org/drawingml/2006/main" l="0" t="4217" r="0" b="4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8600" y="1409700"/>
            <a:ext cx="3162300" cy="18097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54639-7488-4F73-8B39-89D9CB66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1409700"/>
            <a:ext cx="3162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F6C7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8AFE9-D8EE-4639-B1D2-88E2D735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140970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0DAB33-589F-41F5-B591-F81CD818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1476375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2D6"/>
                </a:solidFill>
              </a:defRPr>
            </a:pPr>
            <a:r>
              <a:rPr sz="975" b="1">
                <a:solidFill>
                  <a:srgbClr val="36E2D6"/>
                </a:solidFill>
              </a:rPr>
              <a:t>反推逻辑工作台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0fb1630a4481f"/>
          <a:srcRect xmlns:a="http://schemas.openxmlformats.org/drawingml/2006/main" l="0" t="4217" r="0" b="4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91400" y="1409700"/>
            <a:ext cx="3162300" cy="1809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70B9F-5D44-4C5B-A630-C04C5BA2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1409700"/>
            <a:ext cx="3162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F6C7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0FB14F-366A-4D10-BE94-6FBAD569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140970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E0A3C3-6D86-4A20-91EE-8C2C42DC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1476375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2D6"/>
                </a:solidFill>
              </a:defRPr>
            </a:pPr>
            <a:r>
              <a:rPr sz="975" b="1">
                <a:solidFill>
                  <a:srgbClr val="36E2D6"/>
                </a:solidFill>
              </a:rPr>
              <a:t>C919 E-TRAS 工作台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cd3a4d48e4095"/>
          <a:srcRect xmlns:a="http://schemas.openxmlformats.org/drawingml/2006/main" l="0" t="4217" r="0" b="4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543300"/>
            <a:ext cx="3162300" cy="18097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DFC92C-5044-4A9F-A40E-3A5DA2BC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543300"/>
            <a:ext cx="3162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F6C7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AC02E5-6195-4BE4-9FBD-0177B8C9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54330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9BCCD6-AE7A-48B8-8297-99825CA2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609975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2D6"/>
                </a:solidFill>
              </a:defRPr>
            </a:pPr>
            <a:r>
              <a:rPr sz="975" b="1">
                <a:solidFill>
                  <a:srgbClr val="36E2D6"/>
                </a:solidFill>
              </a:rPr>
              <a:t>全流程时间线仿真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e4cae57134dc5"/>
          <a:srcRect xmlns:a="http://schemas.openxmlformats.org/drawingml/2006/main" l="0" t="4217" r="0" b="4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8600" y="3543300"/>
            <a:ext cx="3162300" cy="1809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F73F56-F749-443A-A01F-F7C7FBCA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3543300"/>
            <a:ext cx="3162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F6C7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34FC66-87C8-4652-BCD0-FABB3D86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354330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F7AE2F-7EF7-4D6F-B332-6FA5A42B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3609975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2D6"/>
                </a:solidFill>
              </a:defRPr>
            </a:pPr>
            <a:r>
              <a:rPr sz="975" b="1">
                <a:solidFill>
                  <a:srgbClr val="36E2D6"/>
                </a:solidFill>
              </a:rPr>
              <a:t>E-TRAS 电路拓扑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4e88c753e4253"/>
          <a:srcRect xmlns:a="http://schemas.openxmlformats.org/drawingml/2006/main" l="0" t="4217" r="0" b="4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91400" y="3543300"/>
            <a:ext cx="3162300" cy="18097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C1DA3F-B419-4320-910E-5963E59B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3543300"/>
            <a:ext cx="3162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F6C7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3E6F29-9333-4764-9CE0-6F5EFAEF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354330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64E6DA-5024-45B2-8217-206633F6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609975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2D6"/>
                </a:solidFill>
              </a:defRPr>
            </a:pPr>
            <a:r>
              <a:rPr sz="975" b="1">
                <a:solidFill>
                  <a:srgbClr val="36E2D6"/>
                </a:solidFill>
              </a:rPr>
              <a:t>C919 MFD 仿真面板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45F94F-0A53-4C3F-B3F9-86911669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0" y="1409700"/>
            <a:ext cx="666750" cy="39433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A171C"/>
          </a:solidFill>
          <a:ln xmlns:a="http://schemas.openxmlformats.org/drawingml/2006/main" w="9525">
            <a:solidFill>
              <a:srgbClr val="00B7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0BF300-7A46-46CA-8CD7-EC18E688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7075" y="1962150"/>
            <a:ext cx="4191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5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6E2D6"/>
                </a:solidFill>
              </a:defRPr>
            </a:pPr>
            <a:r>
              <a:rPr sz="1725" b="1">
                <a:solidFill>
                  <a:srgbClr val="36E2D6"/>
                </a:solidFill>
              </a:rPr>
              <a:t>已形成</a:t>
            </a:r>
          </a:p>
          <a:p xmlns:a="http://schemas.openxmlformats.org/drawingml/2006/main">
            <a:pPr algn="ctr">
              <a:defRPr sz="1725" b="1">
                <a:solidFill>
                  <a:srgbClr val="36E2D6"/>
                </a:solidFill>
              </a:defRPr>
            </a:pPr>
            <a:r>
              <a:rPr sz="1725" b="1">
                <a:solidFill>
                  <a:srgbClr val="36E2D6"/>
                </a:solidFill>
              </a:rPr>
              <a:t>多界面</a:t>
            </a:r>
          </a:p>
          <a:p xmlns:a="http://schemas.openxmlformats.org/drawingml/2006/main">
            <a:pPr algn="ctr">
              <a:defRPr sz="1725" b="1">
                <a:solidFill>
                  <a:srgbClr val="36E2D6"/>
                </a:solidFill>
              </a:defRPr>
            </a:pPr>
            <a:r>
              <a:rPr sz="1725" b="1">
                <a:solidFill>
                  <a:srgbClr val="36E2D6"/>
                </a:solidFill>
              </a:rPr>
              <a:t>工作台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31A1F4-65B5-474C-AAFE-5A32137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56197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这些画面来自当前本地服务实时截屏。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80B8C2-A5E0-4B4F-BBD4-DA4D9410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99B8AA-6608-4E2E-922D-3ACAD249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750627-9ACE-4BD8-A014-F6AABC80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5492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03033-4BF3-43B3-B47A-AADC0AE5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E2F0E-D99E-4DA6-9BA2-7EE781B8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37215-39CA-4695-89EF-F5285463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3F29A-7FE8-4331-8C45-4DA30518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5DF11-9D78-46C1-8917-7425B400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E9D62-6B82-41D2-B46E-9C22C729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1C2D7-66CB-48F1-8AE2-6260E4CB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C5B50-99E5-409C-BF20-22EFE338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A8591-B3D3-462F-AB5F-379EF077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58F01-3292-42F0-A173-EAE3854F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5623C-AA4F-4C1C-BD3E-624D6DE3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4A9B3-DE13-42A9-B986-D7C3D5FC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E14B0-0341-4CA4-B895-96F2D5FE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Workbench screenshots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FE337-6C30-40C4-8E1B-DD1A5E1A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核心工作台：两条控制逻辑链路并行展示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325b9bde04bf7"/>
          <a:srcRect xmlns:a="http://schemas.openxmlformats.org/drawingml/2006/main" l="999" t="0" r="9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66850"/>
            <a:ext cx="5048250" cy="32194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6F493-9859-4B2B-BADC-9768CBC7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66850"/>
            <a:ext cx="5048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F6C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DC36D-BF45-4CD4-9333-7A5ED113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66850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73C26-B46C-4B2C-B2B5-08E42BC1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1533525"/>
            <a:ext cx="481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2D6"/>
                </a:solidFill>
              </a:defRPr>
            </a:pPr>
            <a:r>
              <a:rPr sz="975" b="1">
                <a:solidFill>
                  <a:srgbClr val="36E2D6"/>
                </a:solidFill>
              </a:rPr>
              <a:t>FANTUI 反推逻辑工作台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3239d396e4a29"/>
          <a:srcRect xmlns:a="http://schemas.openxmlformats.org/drawingml/2006/main" l="999" t="0" r="9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466850"/>
            <a:ext cx="5048250" cy="32194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5B58E-035F-4BE5-9ACC-BA26100D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466850"/>
            <a:ext cx="5048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F6C7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2E629-D0D9-44AB-8680-9602F91C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466850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57586-6C12-4571-9EFA-9EE54304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1533525"/>
            <a:ext cx="481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2D6"/>
                </a:solidFill>
              </a:defRPr>
            </a:pPr>
            <a:r>
              <a:rPr sz="975" b="1">
                <a:solidFill>
                  <a:srgbClr val="36E2D6"/>
                </a:solidFill>
              </a:rPr>
              <a:t>C919 E-TRAS 逻辑工作台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E1149-4F81-4466-B1F9-3764C881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5067300"/>
            <a:ext cx="2914650" cy="5524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E2026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F0346-9679-4C85-9549-037DFD56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51816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E2D6"/>
                </a:solidFill>
              </a:defRPr>
            </a:pPr>
            <a:r>
              <a:rPr sz="1125" b="1">
                <a:solidFill>
                  <a:srgbClr val="36E2D6"/>
                </a:solidFill>
              </a:rPr>
              <a:t>同一类操作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3E60CD-02EA-47C7-84E4-0D7AF308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53911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B3BA"/>
                </a:solidFill>
              </a:defRPr>
            </a:pPr>
            <a:r>
              <a:rPr sz="975" b="0">
                <a:solidFill>
                  <a:srgbClr val="9BB3BA"/>
                </a:solidFill>
              </a:rPr>
              <a:t>拉杆、条件、故障注入、链路高亮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DC24AC-598A-4952-AF1C-E6561BE8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5067300"/>
            <a:ext cx="2914650" cy="5524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E2026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67145-D3CD-43CB-BCA1-8BF6006C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51816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84B"/>
                </a:solidFill>
              </a:defRPr>
            </a:pPr>
            <a:r>
              <a:rPr sz="1125" b="1">
                <a:solidFill>
                  <a:srgbClr val="F2B84B"/>
                </a:solidFill>
              </a:rPr>
              <a:t>不同系统真值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C3268F-F1D1-4397-AEFD-BF9AAAC1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53911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B3BA"/>
                </a:solidFill>
              </a:defRPr>
            </a:pPr>
            <a:r>
              <a:rPr sz="975" b="0">
                <a:solidFill>
                  <a:srgbClr val="9BB3BA"/>
                </a:solidFill>
              </a:rPr>
              <a:t>反推链与C919 E-TRAS通过适配器接入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C98EF1-97E0-4CAB-A3D3-816DCDF4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5067300"/>
            <a:ext cx="2914650" cy="5524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E2026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789629-9B1E-4CB1-9BCA-063C2092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51816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7D98B"/>
                </a:solidFill>
              </a:defRPr>
            </a:pPr>
            <a:r>
              <a:rPr sz="1125" b="1">
                <a:solidFill>
                  <a:srgbClr val="37D98B"/>
                </a:solidFill>
              </a:rPr>
              <a:t>正式展示面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4EA558-9C71-4034-B56D-3938F412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53911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B3BA"/>
                </a:solidFill>
              </a:defRPr>
            </a:pPr>
            <a:r>
              <a:rPr sz="975" b="0">
                <a:solidFill>
                  <a:srgbClr val="9BB3BA"/>
                </a:solidFill>
              </a:rPr>
              <a:t>可直接用于项目介绍和阶段验收演示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F60E2C-06AC-483B-8393-377F4D51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53B684-BB8A-4F6E-900F-5690F82A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AB547E-96B9-4D1B-A751-848D0A42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85919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270C8-F868-4234-8ACC-4C07F9B1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58E63-9C49-4318-A257-2520BACB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44552-0930-4D13-B45F-71A9B338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01E86-F249-4A28-833B-7C05D2F1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FEDB1-3C72-43DF-AE48-425B39E9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5CEDB-4347-43AB-9F57-07138DA2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51101-061F-49F8-BB42-0D109FD5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15475-9DD2-4C49-B6D2-EC012C91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5DF04-2730-48E3-8C56-EA5ECF18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9F701-EB25-410F-8D86-68597F87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9F04B-63F9-44F1-8115-E6D1C069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CCA56-267E-4F3A-B678-62FD1D48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A453D-B160-4603-A62F-96239563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Simulation and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749AB-8D3A-47E4-AE3D-5CFB5192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仿真与证据界面：时间线、拓扑、面板联动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f41ee32bf4039"/>
          <a:srcRect xmlns:a="http://schemas.openxmlformats.org/drawingml/2006/main" l="0" t="11185" r="0" b="111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28750"/>
            <a:ext cx="5143500" cy="2495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A7697-DFA7-4565-9E78-371875FB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51435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F6C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684A55-EC37-4FDD-9FC8-68496EB9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F480A-4376-4E01-B3B8-22D901EF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1495425"/>
            <a:ext cx="491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2D6"/>
                </a:solidFill>
              </a:defRPr>
            </a:pPr>
            <a:r>
              <a:rPr sz="975" b="1">
                <a:solidFill>
                  <a:srgbClr val="36E2D6"/>
                </a:solidFill>
              </a:rPr>
              <a:t>全流程时间线仿真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acf3432ce4fb2"/>
          <a:srcRect xmlns:a="http://schemas.openxmlformats.org/drawingml/2006/main" l="0" t="11185" r="0" b="111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1428750"/>
            <a:ext cx="5143500" cy="24955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8CABA-4555-473A-8CDD-0099CFEA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1428750"/>
            <a:ext cx="51435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F6C7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CD09A-3A20-40B6-9E14-6A3BBE94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14287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BC511-8BE2-4D02-A167-A7D852F7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495425"/>
            <a:ext cx="491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2D6"/>
                </a:solidFill>
              </a:defRPr>
            </a:pPr>
            <a:r>
              <a:rPr sz="975" b="1">
                <a:solidFill>
                  <a:srgbClr val="36E2D6"/>
                </a:solidFill>
              </a:rPr>
              <a:t>C919 E-TRAS 电路拓扑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8a93ba4fc455d"/>
          <a:srcRect xmlns:a="http://schemas.openxmlformats.org/drawingml/2006/main" l="0" t="31926" r="0" b="31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29100"/>
            <a:ext cx="5143500" cy="11620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F88CF4-6C4B-43E5-B110-55979D40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229100"/>
            <a:ext cx="5143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F6C7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0B34E2-4B38-4A33-8DC5-902D1D96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2291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47D9BD-E23F-4BF6-8FFA-B81B01C6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295775"/>
            <a:ext cx="491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2D6"/>
                </a:solidFill>
              </a:defRPr>
            </a:pPr>
            <a:r>
              <a:rPr sz="975" b="1">
                <a:solidFill>
                  <a:srgbClr val="36E2D6"/>
                </a:solidFill>
              </a:rPr>
              <a:t>有状态MFD仿真面板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34802197244b9"/>
          <a:srcRect xmlns:a="http://schemas.openxmlformats.org/drawingml/2006/main" l="0" t="31926" r="0" b="31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4229100"/>
            <a:ext cx="5143500" cy="11620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3547EE-6092-4B72-B696-BBD52520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4229100"/>
            <a:ext cx="5143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F6C7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C3C011-709A-4619-A499-C56425E1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42291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343D67-D876-4E2D-BBF1-D6B89404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295775"/>
            <a:ext cx="491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2D6"/>
                </a:solidFill>
              </a:defRPr>
            </a:pPr>
            <a:r>
              <a:rPr sz="975" b="1">
                <a:solidFill>
                  <a:srgbClr val="36E2D6"/>
                </a:solidFill>
              </a:rPr>
              <a:t>FANTUI 反推电路拓扑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F750BA-3399-42DC-9715-5EE49C5C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600700"/>
            <a:ext cx="8572500" cy="4000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1F25"/>
          </a:solidFill>
          <a:ln xmlns:a="http://schemas.openxmlformats.org/drawingml/2006/main" w="11430">
            <a:solidFill>
              <a:srgbClr val="00B7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12344C-0CCF-4283-9837-DB5D713C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5715000"/>
            <a:ext cx="788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展示面不只是一张静态图：可切换系统、可跑时间线、可看拓扑、可进入有状态仿真。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F67187-A450-4474-990B-DD409596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054C53-9EDC-4900-AA6D-53F65AA1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D4BD9B-5546-475B-A043-72A9F690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03933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9342A-36CE-42EC-9317-AF72AD41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E90AB-208F-40B9-A170-1A92508D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210D7-6094-4961-9513-CE528E3F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4BC2D-A86E-4AD6-880F-0743523F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108EA-D60C-4330-B2C0-8DD373E2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290B3-89A6-4524-973B-996B7C3E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EC580-E40E-47A4-8987-9FFF1D5E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BD96D-05FA-4235-A526-C296E469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BF0A5-6832-4BA5-A4A6-3F64C410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1D1A9-0779-44DC-BF42-C3897D6E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E0CA2-2CC1-403B-896C-4899AC54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97F10-DC40-4316-81C2-339E90EC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5AA4E-A5E8-4210-8906-C930455B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Technical 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BC337-C6CA-4093-8EAE-757D2E43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技术路线：三层解耦，避免“AI黑箱”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424C1-5B49-4977-B6A3-C624193D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1581150"/>
            <a:ext cx="8667750" cy="9144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22D27"/>
          </a:solidFill>
          <a:ln xmlns:a="http://schemas.openxmlformats.org/drawingml/2006/main" w="13335">
            <a:solidFill>
              <a:srgbClr val="37D9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010F2-C2A5-491E-8791-70576EEA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18097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D98B"/>
                </a:solidFill>
              </a:defRPr>
            </a:pPr>
            <a:r>
              <a:rPr sz="2250" b="1">
                <a:solidFill>
                  <a:srgbClr val="37D98B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6F35D-82C3-496E-9429-E0D6A065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17907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B"/>
                </a:solidFill>
              </a:defRPr>
            </a:pPr>
            <a:r>
              <a:rPr sz="1800" b="1">
                <a:solidFill>
                  <a:srgbClr val="F6FAFB"/>
                </a:solidFill>
              </a:rPr>
              <a:t>确定性真值层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94C04-432C-45F9-B626-99B8AB3E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1762125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7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3BA"/>
                </a:solidFill>
              </a:defRPr>
            </a:pPr>
            <a:r>
              <a:rPr sz="1350" b="0">
                <a:solidFill>
                  <a:srgbClr val="9BB3BA"/>
                </a:solidFill>
              </a:rPr>
              <a:t>控制逻辑、门限、状态转移由可测试代码/规格承载；相同输入得到相同输出。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4D2AB-E964-4AEF-9D10-262F206D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838450"/>
            <a:ext cx="8667750" cy="9144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F2630"/>
          </a:solidFill>
          <a:ln xmlns:a="http://schemas.openxmlformats.org/drawingml/2006/main" w="13335">
            <a:solidFill>
              <a:srgbClr val="36E2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78F0C-D82D-437E-8B41-F5DFCE6F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30670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6E2D6"/>
                </a:solidFill>
              </a:defRPr>
            </a:pPr>
            <a:r>
              <a:rPr sz="2250" b="1">
                <a:solidFill>
                  <a:srgbClr val="36E2D6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5FB532-9406-4EDB-8FB3-73A58A9A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3048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B"/>
                </a:solidFill>
              </a:defRPr>
            </a:pPr>
            <a:r>
              <a:rPr sz="1800" b="1">
                <a:solidFill>
                  <a:srgbClr val="F6FAFB"/>
                </a:solidFill>
              </a:rPr>
              <a:t>适配与仿真层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4A74D1-DB7C-4AF8-83BC-EACF922B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3019425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7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3BA"/>
                </a:solidFill>
              </a:defRPr>
            </a:pPr>
            <a:r>
              <a:rPr sz="1350" b="0">
                <a:solidFill>
                  <a:srgbClr val="9BB3BA"/>
                </a:solidFill>
              </a:rPr>
              <a:t>不同子系统通过 adapter 接入，统一进入时间线仿真、故障注入、批量回放。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B2C14-CB06-4898-B1D5-C92A32EB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095750"/>
            <a:ext cx="8667750" cy="9144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2B2516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CCD48-076B-407F-BF38-D5213F77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43243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B84B"/>
                </a:solidFill>
              </a:defRPr>
            </a:pPr>
            <a:r>
              <a:rPr sz="2250" b="1">
                <a:solidFill>
                  <a:srgbClr val="F2B84B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10233F-4A54-4B65-A3B7-3BC5326B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3053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B"/>
                </a:solidFill>
              </a:defRPr>
            </a:pPr>
            <a:r>
              <a:rPr sz="1800" b="1">
                <a:solidFill>
                  <a:srgbClr val="F6FAFB"/>
                </a:solidFill>
              </a:rPr>
              <a:t>AI辅助与知识层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B73106-EBB6-489F-BF94-52FC91A9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4276725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7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3BA"/>
                </a:solidFill>
              </a:defRPr>
            </a:pPr>
            <a:r>
              <a:rPr sz="1350" b="0">
                <a:solidFill>
                  <a:srgbClr val="9BB3BA"/>
                </a:solidFill>
              </a:rPr>
              <a:t>AI用于解释、检索、报告生成和专家知识沉淀；不改写真值结论。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ABA779-3B73-4A6B-BCB7-CA51B3B5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1619250"/>
            <a:ext cx="381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A8D5B6-0866-4B21-A269-E57FC4CF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20955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核心原则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C413FD-9413-4A59-8186-014F7A58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2533650"/>
            <a:ext cx="1104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AFB"/>
                </a:solidFill>
              </a:defRPr>
            </a:pPr>
            <a:r>
              <a:rPr sz="1950" b="1">
                <a:solidFill>
                  <a:srgbClr val="F6FAFB"/>
                </a:solidFill>
              </a:rPr>
              <a:t>先有真值</a:t>
            </a:r>
          </a:p>
          <a:p xmlns:a="http://schemas.openxmlformats.org/drawingml/2006/main">
            <a:pPr algn="l">
              <a:defRPr sz="1950" b="1">
                <a:solidFill>
                  <a:srgbClr val="F6FAFB"/>
                </a:solidFill>
              </a:defRPr>
            </a:pPr>
            <a:r>
              <a:rPr sz="1950" b="1">
                <a:solidFill>
                  <a:srgbClr val="F6FAFB"/>
                </a:solidFill>
              </a:rPr>
              <a:t>再有解释</a:t>
            </a:r>
          </a:p>
          <a:p xmlns:a="http://schemas.openxmlformats.org/drawingml/2006/main">
            <a:pPr algn="l">
              <a:defRPr sz="1950" b="1">
                <a:solidFill>
                  <a:srgbClr val="F6FAFB"/>
                </a:solidFill>
              </a:defRPr>
            </a:pPr>
            <a:r>
              <a:rPr sz="1950" b="1">
                <a:solidFill>
                  <a:srgbClr val="F6FAFB"/>
                </a:solidFill>
              </a:rPr>
              <a:t>最后归档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C12A8F-2A8F-4BBF-97B2-2A5B7764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3886200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86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这让系统可审计、可降级、可国产化。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6A5964-7804-42BE-A47E-F90B9448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959680-E237-493A-AD25-B0F539E8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405717-3D4F-4AAD-B841-61E86492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25335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F7AFA-1A7C-446E-9904-2E762AC7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B72C3-D518-4A6D-A056-42BA6B6D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88F5D-F64E-4A23-81C9-3FEBB84B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29C7E-A119-4B05-8BA2-A4687DE3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07454-3FE2-44E3-ADF9-42F81290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C6538-FC32-429D-A687-C709D307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16794-6907-47F3-BC0D-BA9EB0F5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D99D9-B8A7-4BCE-A6C5-AF680E60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70407-CB25-4D69-8DB2-D08D1E21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6A9C9-E431-4A91-879B-F1CA2845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874B1-CBF7-4594-94ED-C569712E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10A4D-3CFF-4D82-82DC-DD49BD1D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C2B8F-DE20-48AF-A4F5-6ED875E7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69E48-CC60-48D6-B433-7D6BB962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18个月开发路线图：每3–6个月有可见成果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2241E-09A5-4BB1-9158-BFA933A8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2838450"/>
            <a:ext cx="942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13FD7-C7FD-4A53-A64F-EC1234CE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2571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7C7"/>
          </a:solidFill>
          <a:ln xmlns:a="http://schemas.openxmlformats.org/drawingml/2006/main" w="9525">
            <a:solidFill>
              <a:srgbClr val="F6FA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BCF02-1696-4AED-875B-90553546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269557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1115"/>
                </a:solidFill>
              </a:defRPr>
            </a:pPr>
            <a:r>
              <a:rPr sz="1800" b="1">
                <a:solidFill>
                  <a:srgbClr val="0A1115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69ADD-BDBC-4AF4-BAF2-60695073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352800"/>
            <a:ext cx="1809750" cy="17907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6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22011-B750-47DC-90DA-7691CEB1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5623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6E2D6"/>
                </a:solidFill>
              </a:defRPr>
            </a:pPr>
            <a:r>
              <a:rPr sz="1275" b="1">
                <a:solidFill>
                  <a:srgbClr val="36E2D6"/>
                </a:solidFill>
              </a:rPr>
              <a:t>0–3个月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4FCC2-B2F6-48E5-AB13-F0047290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9243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58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立项启动与试点准备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75CDD-9B17-4313-972E-30C3B726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4767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806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BB3BA"/>
                </a:solidFill>
              </a:defRPr>
            </a:pPr>
            <a:r>
              <a:rPr sz="1050" b="0">
                <a:solidFill>
                  <a:srgbClr val="9BB3BA"/>
                </a:solidFill>
              </a:rPr>
              <a:t>完成项目章程、数据清单、首个试点系统选择、样机演示基线。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819D0-7116-4559-A228-448EA4A7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2571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98B"/>
          </a:solidFill>
          <a:ln xmlns:a="http://schemas.openxmlformats.org/drawingml/2006/main" w="9525">
            <a:solidFill>
              <a:srgbClr val="F6FAF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1798CA-7D72-4D93-B665-8EE11BE9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69557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1115"/>
                </a:solidFill>
              </a:defRPr>
            </a:pPr>
            <a:r>
              <a:rPr sz="1800" b="1">
                <a:solidFill>
                  <a:srgbClr val="0A1115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914025-FF98-40F7-83FE-A52065C4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352800"/>
            <a:ext cx="1809750" cy="17907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6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BE89AF-9629-42F4-86E8-44D6C0AC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5623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6E2D6"/>
                </a:solidFill>
              </a:defRPr>
            </a:pPr>
            <a:r>
              <a:rPr sz="1275" b="1">
                <a:solidFill>
                  <a:srgbClr val="36E2D6"/>
                </a:solidFill>
              </a:rPr>
              <a:t>3–6个月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0F08F2-5E92-4258-8D03-FBE9732D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9243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真实子系统PoC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B6B5E-9404-4C9B-ADDD-4E681DD2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4767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806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BB3BA"/>
                </a:solidFill>
              </a:defRPr>
            </a:pPr>
            <a:r>
              <a:rPr sz="1050" b="0">
                <a:solidFill>
                  <a:srgbClr val="9BB3BA"/>
                </a:solidFill>
              </a:rPr>
              <a:t>把甲方一个真实子系统跑通“文档→规格→仿真→诊断”。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0EF9A9-551A-4B12-ABC6-D90DB8E0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2571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F6FAF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10A34F-19D0-406D-A89C-44F6FFA3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269557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1115"/>
                </a:solidFill>
              </a:defRPr>
            </a:pPr>
            <a:r>
              <a:rPr sz="1800" b="1">
                <a:solidFill>
                  <a:srgbClr val="0A1115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AF6291-56AD-431B-B5D5-5652CF91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352800"/>
            <a:ext cx="1809750" cy="17907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6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DA442F-A867-4F7C-9BAD-9EAEE03C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35623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6E2D6"/>
                </a:solidFill>
              </a:defRPr>
            </a:pPr>
            <a:r>
              <a:rPr sz="1275" b="1">
                <a:solidFill>
                  <a:srgbClr val="36E2D6"/>
                </a:solidFill>
              </a:rPr>
              <a:t>6–12个月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F5CA0A-FD31-478C-8A66-E2354CBB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39243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生产前硬化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0AB37F-68DF-46AC-BA1A-5C6F6E23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44767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806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BB3BA"/>
                </a:solidFill>
              </a:defRPr>
            </a:pPr>
            <a:r>
              <a:rPr sz="1050" b="0">
                <a:solidFill>
                  <a:srgbClr val="9BB3BA"/>
                </a:solidFill>
              </a:rPr>
              <a:t>建设Staging环境、安全基线、批量验证、审计报告模板。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4C3523-80B0-4591-8548-59D54C7A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2571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B3F"/>
          </a:solidFill>
          <a:ln xmlns:a="http://schemas.openxmlformats.org/drawingml/2006/main" w="9525">
            <a:solidFill>
              <a:srgbClr val="F6FAF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CB586E-78ED-4D37-911B-1CC34EE1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269557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FAFB"/>
                </a:solidFill>
              </a:defRPr>
            </a:pPr>
            <a:r>
              <a:rPr sz="1800" b="1">
                <a:solidFill>
                  <a:srgbClr val="F6FAFB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E8E814-81FB-4BB6-8853-CD85E8D1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3352800"/>
            <a:ext cx="1809750" cy="17907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6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605006-DC14-4289-B08B-E47602FE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35623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6E2D6"/>
                </a:solidFill>
              </a:defRPr>
            </a:pPr>
            <a:r>
              <a:rPr sz="1275" b="1">
                <a:solidFill>
                  <a:srgbClr val="36E2D6"/>
                </a:solidFill>
              </a:rPr>
              <a:t>12–18个月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34611B-47AE-4EC0-9015-A9EB55EE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39243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首批生产验证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F1BD49-E8F4-4D2D-8FFB-62D446D6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44767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806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BB3BA"/>
                </a:solidFill>
              </a:defRPr>
            </a:pPr>
            <a:r>
              <a:rPr sz="1050" b="0">
                <a:solidFill>
                  <a:srgbClr val="9BB3BA"/>
                </a:solidFill>
              </a:rPr>
              <a:t>接入3–5个子系统，形成可复现验证报告和季度审计包。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CC0A75-5430-460A-9BD9-5C330018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2860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078"/>
                </a:solidFill>
              </a:defRPr>
            </a:pPr>
            <a:r>
              <a:rPr sz="1050" b="0">
                <a:solidFill>
                  <a:srgbClr val="587078"/>
                </a:solidFill>
              </a:rPr>
              <a:t>T0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3B1C11-0909-4323-9E71-F87F3D53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22860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7078"/>
                </a:solidFill>
              </a:defRPr>
            </a:pPr>
            <a:r>
              <a:rPr sz="1050" b="0">
                <a:solidFill>
                  <a:srgbClr val="587078"/>
                </a:solidFill>
              </a:rPr>
              <a:t>T0+18M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497411-2726-47AF-BCDA-2351C1D0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9B180D-96CB-41C9-9A4A-95EFFBB2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341170-E6E5-4A69-9CB6-4D6E0CA9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92413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67079-003D-4B02-9129-0F8A8039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D1557-7CCB-4777-8682-67C57992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9C555-8B20-498A-A539-23954F4A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8DFF1-96B0-4307-AF7F-FDB294EF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7661C-828A-448F-843C-A5D9FAA4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30FC5-C95D-4317-BDF8-BF36AC59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E1FD7-D55F-40A6-90AE-D85B5B2C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02FFD-222C-4EB1-B5D3-E2055966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33EAA-7077-4590-A5A0-8D212827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7E690-1BEC-400A-B10D-78BDFC1A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14F13-A066-4D43-93B3-C92E2D50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C70E3-66C9-4803-BF85-A97C0610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1CDC3-984F-465B-9D76-AC10D346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Stage outcomes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E0BBC-C1A5-40D8-952A-43E722DC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每个阶段可验收成果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D8EB4-3113-4479-A00F-0B702A37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44780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B"/>
          </a:solidFill>
          <a:ln xmlns:a="http://schemas.openxmlformats.org/drawingml/2006/main" w="9525">
            <a:solidFill>
              <a:srgbClr val="2C59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07469-ECCB-4AB5-AAE8-E780DE2C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15716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E2D6"/>
                </a:solidFill>
              </a:defRPr>
            </a:pPr>
            <a:r>
              <a:rPr sz="1125" b="1">
                <a:solidFill>
                  <a:srgbClr val="36E2D6"/>
                </a:solidFill>
              </a:rPr>
              <a:t>时间点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6D594-8FD0-4DE0-9EEB-7E45C7BA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14478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B"/>
          </a:solidFill>
          <a:ln xmlns:a="http://schemas.openxmlformats.org/drawingml/2006/main" w="9525">
            <a:solidFill>
              <a:srgbClr val="2C59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7A6CA-F28A-4159-9F4C-48A20597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15716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E2D6"/>
                </a:solidFill>
              </a:defRPr>
            </a:pPr>
            <a:r>
              <a:rPr sz="1125" b="1">
                <a:solidFill>
                  <a:srgbClr val="36E2D6"/>
                </a:solidFill>
              </a:rPr>
              <a:t>展示成果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61879-8A0E-48A6-9234-123A62B3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14478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A"/>
          </a:solidFill>
          <a:ln xmlns:a="http://schemas.openxmlformats.org/drawingml/2006/main" w="9525">
            <a:solidFill>
              <a:srgbClr val="2C59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5F3F0-69A9-4B5D-B301-06B0DA37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15716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E2D6"/>
                </a:solidFill>
              </a:defRPr>
            </a:pPr>
            <a:r>
              <a:rPr sz="1125" b="1">
                <a:solidFill>
                  <a:srgbClr val="36E2D6"/>
                </a:solidFill>
              </a:rPr>
              <a:t>可验收内容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00B354-DAB8-41BC-893B-AD5CE9E8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14478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B"/>
          </a:solidFill>
          <a:ln xmlns:a="http://schemas.openxmlformats.org/drawingml/2006/main" w="9525">
            <a:solidFill>
              <a:srgbClr val="2C596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3EB6B7-690F-4ADD-AB3B-EAE945A6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15716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E2D6"/>
                </a:solidFill>
              </a:defRPr>
            </a:pPr>
            <a:r>
              <a:rPr sz="1125" b="1">
                <a:solidFill>
                  <a:srgbClr val="36E2D6"/>
                </a:solidFill>
              </a:rPr>
              <a:t>决策动作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547850-DE62-4CB4-8C85-1F1BB97C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88595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1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E7781-A0DC-44F5-B243-9CEB8F9A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0002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B84B"/>
                </a:solidFill>
              </a:defRPr>
            </a:pPr>
            <a:r>
              <a:rPr sz="1125" b="1">
                <a:solidFill>
                  <a:srgbClr val="F2B84B"/>
                </a:solidFill>
              </a:rPr>
              <a:t>T0+30天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99C126-6149-4469-9101-2A45826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18859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1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B9D305-3433-4971-946A-D3BFF932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200025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AFB"/>
                </a:solidFill>
              </a:defRPr>
            </a:pPr>
            <a:r>
              <a:rPr sz="1200" b="1">
                <a:solidFill>
                  <a:srgbClr val="F6FAFB"/>
                </a:solidFill>
              </a:rPr>
              <a:t>立项包+样机演示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9843D0-8840-4D48-A204-97E590A9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18859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1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1F5638-B9E5-41E8-BD7B-839F64D7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200025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B"/>
                </a:solidFill>
              </a:defRPr>
            </a:pPr>
            <a:r>
              <a:rPr sz="1050" b="0">
                <a:solidFill>
                  <a:srgbClr val="F6FAFB"/>
                </a:solidFill>
              </a:rPr>
              <a:t>项目章程、数据目录、试点系统清单、当前C919样机演示。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4C96BF-9318-4896-994E-E850C7EB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18859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1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728D83-1508-47D7-89EC-7AB4AF97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20002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B"/>
                </a:solidFill>
              </a:defRPr>
            </a:pPr>
            <a:r>
              <a:rPr sz="1050" b="0">
                <a:solidFill>
                  <a:srgbClr val="F6FAFB"/>
                </a:solidFill>
              </a:rPr>
              <a:t>决定是否进入PoC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B754E8-AC93-45BA-B384-5D0BA271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55270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27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E1433D-9E86-4B4C-BC2E-8D117025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6670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B84B"/>
                </a:solidFill>
              </a:defRPr>
            </a:pPr>
            <a:r>
              <a:rPr sz="1125" b="1">
                <a:solidFill>
                  <a:srgbClr val="F2B84B"/>
                </a:solidFill>
              </a:rPr>
              <a:t>T0+3个月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5A230F-6B73-4279-B7ED-3D76D9E6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25527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27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90149A-7FA2-4658-BC95-7ACE28C4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266700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AFB"/>
                </a:solidFill>
              </a:defRPr>
            </a:pPr>
            <a:r>
              <a:rPr sz="1200" b="1">
                <a:solidFill>
                  <a:srgbClr val="F6FAFB"/>
                </a:solidFill>
              </a:rPr>
              <a:t>试点系统首版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A339E5-AFAD-4677-9D13-4A0BB445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25527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27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D70829-0CD1-40F3-8D55-38A8F008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266700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B"/>
                </a:solidFill>
              </a:defRPr>
            </a:pPr>
            <a:r>
              <a:rPr sz="1050" b="0">
                <a:solidFill>
                  <a:srgbClr val="F6FAFB"/>
                </a:solidFill>
              </a:rPr>
              <a:t>真实文档完成规格澄清；控制链路可在工作台上被演示。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17E8D2-A0B5-4CAF-A1D2-08270B2A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25527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27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ACBC69-525F-47ED-8E1A-788439A0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26670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B"/>
                </a:solidFill>
              </a:defRPr>
            </a:pPr>
            <a:r>
              <a:rPr sz="1050" b="0">
                <a:solidFill>
                  <a:srgbClr val="F6FAFB"/>
                </a:solidFill>
              </a:rPr>
              <a:t>决定是否扩充数据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C76D04-4918-4CC3-9191-9F1B870F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21945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1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B88EAF-DA6F-4AF6-B178-4844F8F2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3337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B84B"/>
                </a:solidFill>
              </a:defRPr>
            </a:pPr>
            <a:r>
              <a:rPr sz="1125" b="1">
                <a:solidFill>
                  <a:srgbClr val="F2B84B"/>
                </a:solidFill>
              </a:rPr>
              <a:t>T0+6个月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9979D2-82B9-4CE5-ADCF-29936FA7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3219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1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0E7A37-FB99-418F-BE39-60B8545B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333375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AFB"/>
                </a:solidFill>
              </a:defRPr>
            </a:pPr>
            <a:r>
              <a:rPr sz="1200" b="1">
                <a:solidFill>
                  <a:srgbClr val="F6FAFB"/>
                </a:solidFill>
              </a:rPr>
              <a:t>端到端PoC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C1E4E5-132E-4101-A960-36B57738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2194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1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0A9F9C-A642-43A4-BF8F-2F6412CF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333375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B"/>
                </a:solidFill>
              </a:defRPr>
            </a:pPr>
            <a:r>
              <a:rPr sz="1050" b="0">
                <a:solidFill>
                  <a:srgbClr val="F6FAFB"/>
                </a:solidFill>
              </a:rPr>
              <a:t>文档→仿真→故障注入→诊断→报告闭环跑通。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D4B092-24F1-454D-A0D7-DF8F2BBF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32194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1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46B5D0-7A62-44D2-BCB3-CEB03868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3337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B"/>
                </a:solidFill>
              </a:defRPr>
            </a:pPr>
            <a:r>
              <a:rPr sz="1050" b="0">
                <a:solidFill>
                  <a:srgbClr val="F6FAFB"/>
                </a:solidFill>
              </a:rPr>
              <a:t>决定是否进Staging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A50401-26E5-4BA3-A059-DFFCFB8F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88620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27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E8ACAF-DB10-479F-B7E5-98AF20E8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0005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B84B"/>
                </a:solidFill>
              </a:defRPr>
            </a:pPr>
            <a:r>
              <a:rPr sz="1125" b="1">
                <a:solidFill>
                  <a:srgbClr val="F2B84B"/>
                </a:solidFill>
              </a:rPr>
              <a:t>T0+12个月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55F35F-BC84-49D6-9269-A5CF6B4B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38862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27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9BC051-206C-4677-9CAD-64C4A75E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400050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AFB"/>
                </a:solidFill>
              </a:defRPr>
            </a:pPr>
            <a:r>
              <a:rPr sz="1200" b="1">
                <a:solidFill>
                  <a:srgbClr val="F6FAFB"/>
                </a:solidFill>
              </a:rPr>
              <a:t>生产前验证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3262F0-348C-44B0-9EEF-6B97E708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8862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27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D8C330-E08F-43A2-953D-E9244B4D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400050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B"/>
                </a:solidFill>
              </a:defRPr>
            </a:pPr>
            <a:r>
              <a:rPr sz="1050" b="0">
                <a:solidFill>
                  <a:srgbClr val="F6FAFB"/>
                </a:solidFill>
              </a:rPr>
              <a:t>安全基线、批量验证、审计追溯、运维监控可验收。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391342-1D6E-4E4F-AB16-DCD71435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38862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27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A390DA-A3BC-49C8-957D-8A0ECF7D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400050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B"/>
                </a:solidFill>
              </a:defRPr>
            </a:pPr>
            <a:r>
              <a:rPr sz="1050" b="0">
                <a:solidFill>
                  <a:srgbClr val="F6FAFB"/>
                </a:solidFill>
              </a:rPr>
              <a:t>决定是否进产线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1E0F76-D2D5-4375-86C5-C3F38972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55295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1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DD2C0D-44BB-4296-B855-BA40B7F6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6672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B84B"/>
                </a:solidFill>
              </a:defRPr>
            </a:pPr>
            <a:r>
              <a:rPr sz="1125" b="1">
                <a:solidFill>
                  <a:srgbClr val="F2B84B"/>
                </a:solidFill>
              </a:rPr>
              <a:t>T0+18个月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AE9F66-6EBC-43EF-B25C-D8FDBF9F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45529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1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1CE829-7C08-44C1-9719-F763802C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4667250"/>
            <a:ext cx="158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AFB"/>
                </a:solidFill>
              </a:defRPr>
            </a:pPr>
            <a:r>
              <a:rPr sz="1200" b="1">
                <a:solidFill>
                  <a:srgbClr val="F6FAFB"/>
                </a:solidFill>
              </a:rPr>
              <a:t>首批生产验证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58802C-8803-4208-83AC-6FC32A42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45529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1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72B75A1-B1E1-4690-9057-276D76EA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466725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B"/>
                </a:solidFill>
              </a:defRPr>
            </a:pPr>
            <a:r>
              <a:rPr sz="1050" b="0">
                <a:solidFill>
                  <a:srgbClr val="F6FAFB"/>
                </a:solidFill>
              </a:rPr>
              <a:t>3–5个子系统验证报告、季度审计包、复现脚本。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83F568-8BF8-49D2-8F7C-A1D797AF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45529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1"/>
          </a:solidFill>
          <a:ln xmlns:a="http://schemas.openxmlformats.org/drawingml/2006/main" w="9525">
            <a:solidFill>
              <a:srgbClr val="1C3A4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E499C3-E53E-43F4-BA9F-18016FC7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4667250"/>
            <a:ext cx="186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B"/>
                </a:solidFill>
              </a:defRPr>
            </a:pPr>
            <a:r>
              <a:rPr sz="1050" b="0">
                <a:solidFill>
                  <a:srgbClr val="F6FAFB"/>
                </a:solidFill>
              </a:rPr>
              <a:t>决定平台化扩展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DADCDDE-F47F-4844-BFEE-DECC8B08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3CE78D-7750-4A02-B7CE-5EBAE47C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11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2956F3D-C744-4B87-AD01-179FBCF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8845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84912-6E89-40DC-B11F-D4A2379B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F9B1C-879B-4511-999D-139F9173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2E4F4-4091-4215-89A9-7023F212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B6FFD-106B-49DF-BD99-87648D32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F2000-C4E1-4E86-8B3B-CBB4E85A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AB12A-B5FB-4003-A742-BCBDA34E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E6976-55B7-40FB-9915-AD953D30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C4170-0204-463C-BDE7-9C8D050C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FE6BF-7FFA-48B0-9E01-0BC21705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62EC2-9CAD-4B91-8171-DC2B85D3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3FCE8-1D6B-40F3-A485-AD69541F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2D208-C0F9-4077-B022-4027CD6A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4A5F1-8989-4044-9C6C-69DCD684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43DE7-9874-4C33-AF80-18C7014C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经费测算：推荐采用“生产验证型”预算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4AFE7-DBBE-4412-ADF6-C3E59813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1447800"/>
            <a:ext cx="3105150" cy="2095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6"/>
          </a:solidFill>
          <a:ln xmlns:a="http://schemas.openxmlformats.org/drawingml/2006/main" w="9525">
            <a:solidFill>
              <a:srgbClr val="2C59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2B094-869E-4EFA-A971-6180E57A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1695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E2D6"/>
                </a:solidFill>
              </a:defRPr>
            </a:pPr>
            <a:r>
              <a:rPr sz="1650" b="1">
                <a:solidFill>
                  <a:srgbClr val="36E2D6"/>
                </a:solidFill>
              </a:rPr>
              <a:t>精简试点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CCDD5-61F8-4DE5-B545-6B6A9D22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1526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AFB"/>
                </a:solidFill>
              </a:defRPr>
            </a:pPr>
            <a:r>
              <a:rPr sz="2400" b="1">
                <a:solidFill>
                  <a:srgbClr val="F6FAFB"/>
                </a:solidFill>
              </a:rPr>
              <a:t>800–1200万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EE158-34CF-4B29-976A-03606930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705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B3BA"/>
                </a:solidFill>
              </a:defRPr>
            </a:pPr>
            <a:r>
              <a:rPr sz="1350" b="1">
                <a:solidFill>
                  <a:srgbClr val="9BB3BA"/>
                </a:solidFill>
              </a:rPr>
              <a:t>6个月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69BDC-4137-466D-A133-2CDD5256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0289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6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1–2个子系统</a:t>
            </a:r>
          </a:p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2–4张GPU</a:t>
            </a:r>
          </a:p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适合概念验证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476EF-4C1E-45FB-A94B-21B41843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1447800"/>
            <a:ext cx="3105150" cy="2095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2D2817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2CFF2-6DC2-42E5-AFAD-9C9B837E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1695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</a:defRPr>
            </a:pPr>
            <a:r>
              <a:rPr sz="1650" b="1">
                <a:solidFill>
                  <a:srgbClr val="F2B84B"/>
                </a:solidFill>
              </a:rPr>
              <a:t>推荐方案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09353-A503-4086-995D-B179756F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1526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AFB"/>
                </a:solidFill>
              </a:defRPr>
            </a:pPr>
            <a:r>
              <a:rPr sz="2400" b="1">
                <a:solidFill>
                  <a:srgbClr val="F6FAFB"/>
                </a:solidFill>
              </a:rPr>
              <a:t>1800–2600万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DD6EBC-2973-43C7-B52F-647ED8CE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705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B3BA"/>
                </a:solidFill>
              </a:defRPr>
            </a:pPr>
            <a:r>
              <a:rPr sz="1350" b="1">
                <a:solidFill>
                  <a:srgbClr val="9BB3BA"/>
                </a:solidFill>
              </a:rPr>
              <a:t>18个月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DD87F-4214-4A02-91FA-78CE56BC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30289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6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3–5个子系统</a:t>
            </a:r>
          </a:p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4–8张GPU</a:t>
            </a:r>
          </a:p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形成生产验证能力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5355B0-3E65-434A-8D1E-0F15FF67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1714500"/>
            <a:ext cx="876300" cy="3238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7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170D50-158F-41F2-B519-3D3D480A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17811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84B"/>
                </a:solidFill>
              </a:defRPr>
            </a:pPr>
            <a:r>
              <a:rPr sz="975" b="1">
                <a:solidFill>
                  <a:srgbClr val="F2B84B"/>
                </a:solidFill>
              </a:rPr>
              <a:t>建议申报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80D05-5F3A-4FB1-BBD5-FD9ECBE5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1447800"/>
            <a:ext cx="3105150" cy="2095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6"/>
          </a:solidFill>
          <a:ln xmlns:a="http://schemas.openxmlformats.org/drawingml/2006/main" w="9525">
            <a:solidFill>
              <a:srgbClr val="2C596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975108-9298-4195-9EE3-06880271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1695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E2D6"/>
                </a:solidFill>
              </a:defRPr>
            </a:pPr>
            <a:r>
              <a:rPr sz="1650" b="1">
                <a:solidFill>
                  <a:srgbClr val="36E2D6"/>
                </a:solidFill>
              </a:rPr>
              <a:t>平台化扩展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CF12CC-BCCD-4029-BCA4-28541BB4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21526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AFB"/>
                </a:solidFill>
              </a:defRPr>
            </a:pPr>
            <a:r>
              <a:rPr sz="2400" b="1">
                <a:solidFill>
                  <a:srgbClr val="F6FAFB"/>
                </a:solidFill>
              </a:rPr>
              <a:t>3500–5000万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5F458B-1B3E-49E4-9167-1C4E86D8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2705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B3BA"/>
                </a:solidFill>
              </a:defRPr>
            </a:pPr>
            <a:r>
              <a:rPr sz="1350" b="1">
                <a:solidFill>
                  <a:srgbClr val="9BB3BA"/>
                </a:solidFill>
              </a:rPr>
              <a:t>24个月+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AD4CDB-716A-4981-A617-E11632E9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0289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6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5–8个子系统</a:t>
            </a:r>
          </a:p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8–16张GPU</a:t>
            </a:r>
          </a:p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双中心容灾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2C6B44-5BFF-4609-BCD6-EF674C00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095750"/>
            <a:ext cx="9620250" cy="12573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E1E23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523950-99E9-4D65-9430-5DEFD2CD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43243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B84B"/>
                </a:solidFill>
              </a:defRPr>
            </a:pPr>
            <a:r>
              <a:rPr sz="1875" b="1">
                <a:solidFill>
                  <a:srgbClr val="F2B84B"/>
                </a:solidFill>
              </a:rPr>
              <a:t>推荐中值：2200万元（18个月）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9BFD30-01FA-423D-BBED-50AD51B7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4829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0853DC-537B-42E2-9692-B5238616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4762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AFB"/>
                </a:solidFill>
              </a:defRPr>
            </a:pPr>
            <a:r>
              <a:rPr sz="1200" b="0">
                <a:solidFill>
                  <a:srgbClr val="F6FAFB"/>
                </a:solidFill>
              </a:rPr>
              <a:t>研发与工程化：850万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AEBDAB-0D55-4EA3-A554-59CC4713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4829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6A8294-E122-4B26-B2A8-63930E39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4762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AFB"/>
                </a:solidFill>
              </a:defRPr>
            </a:pPr>
            <a:r>
              <a:rPr sz="1200" b="0">
                <a:solidFill>
                  <a:srgbClr val="F6FAFB"/>
                </a:solidFill>
              </a:rPr>
              <a:t>领域专家/数据治理：300万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ED1702-DBAB-45B4-B749-F38C83A3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4829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7EBDDF-0777-4C43-B4DE-2C9686E7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4762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AFB"/>
                </a:solidFill>
              </a:defRPr>
            </a:pPr>
            <a:r>
              <a:rPr sz="1200" b="0">
                <a:solidFill>
                  <a:srgbClr val="F6FAFB"/>
                </a:solidFill>
              </a:rPr>
              <a:t>算力与环境：450万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5A102C-7A48-4118-97AC-22221D81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5153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68F9A1-21B2-4EA9-8ABF-E9FFB8BE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5086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AFB"/>
                </a:solidFill>
              </a:defRPr>
            </a:pPr>
            <a:r>
              <a:rPr sz="1200" b="0">
                <a:solidFill>
                  <a:srgbClr val="F6FAFB"/>
                </a:solidFill>
              </a:rPr>
              <a:t>安全合规与测评：250万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14E796-8C13-4A14-90B4-598F0693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153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E4A103-E624-42B7-81E2-F5963E7D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5086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AFB"/>
                </a:solidFill>
              </a:defRPr>
            </a:pPr>
            <a:r>
              <a:rPr sz="1200" b="0">
                <a:solidFill>
                  <a:srgbClr val="F6FAFB"/>
                </a:solidFill>
              </a:rPr>
              <a:t>试点集成与培训：250万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A45C19-9078-4A87-867F-6C06D6D2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5153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0A0E65-F6B5-4EDE-AE2B-7D98122F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5086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AFB"/>
                </a:solidFill>
              </a:defRPr>
            </a:pPr>
            <a:r>
              <a:rPr sz="1200" b="0">
                <a:solidFill>
                  <a:srgbClr val="F6FAFB"/>
                </a:solidFill>
              </a:rPr>
              <a:t>预备金：100万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7BA072-01B8-4036-9589-EAE78209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5619750"/>
            <a:ext cx="817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说明：金额为立项测算口径，硬件采购、云/私有化资源、测评费用以正式询价和集团采购规则为准。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699FFF-F31F-41E1-8291-392972D9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B2CAD3-5F93-4267-988D-E2D387A7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12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2DD64E-8064-4B07-8342-D639A73E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427710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66932-5F86-4543-A791-2B804F34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30BBE-60A0-4D3F-9770-9897E470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1C968-886A-4474-A6CC-3CED45D5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F3088-F803-429A-9B42-643C0B1E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A6208-7CE8-4DE9-B860-7918EE2C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62EC4-B31F-4754-A8D5-5E804AA6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1EBD4-6A21-4B74-863E-7439DEC1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D24E8-34EA-4A18-B406-564261A7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F5337-6E6E-4ACC-AFE8-0973B98F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12B97-AA20-4CF6-B8BD-7A1D2C58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21752-6A59-4135-8A61-D17758F1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31018-4880-4F5F-8C46-035E0E35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1D94A-E326-4DB7-B935-135D274B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Compute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91FA9-BDE9-4646-9D24-06636205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数据中心与算力：首期不新建，按资源池分阶段扩容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0AA6F-4825-4460-9A51-316E9581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1447800"/>
            <a:ext cx="4400550" cy="35814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6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CE528-DD68-4151-903A-11D435A1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1752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E2D6"/>
                </a:solidFill>
              </a:defRPr>
            </a:pPr>
            <a:r>
              <a:rPr sz="1800" b="1">
                <a:solidFill>
                  <a:srgbClr val="36E2D6"/>
                </a:solidFill>
              </a:rPr>
              <a:t>数据中心数量建议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81428A-7117-44C4-8B6F-ACF6ACE4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23431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7D98B"/>
                </a:solidFill>
              </a:defRPr>
            </a:pPr>
            <a:r>
              <a:rPr sz="1275" b="1">
                <a:solidFill>
                  <a:srgbClr val="37D98B"/>
                </a:solidFill>
              </a:rPr>
              <a:t>立项/PoC期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AD9B9-B632-4DD3-88C1-F6CDD03E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2324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B"/>
                </a:solidFill>
              </a:defRPr>
            </a:pPr>
            <a:r>
              <a:rPr sz="1425" b="1">
                <a:solidFill>
                  <a:srgbClr val="F6FAFB"/>
                </a:solidFill>
              </a:rPr>
              <a:t>1个既有数据中心资源池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DFE042-52C9-42DA-870B-AF70F889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26289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B3BA"/>
                </a:solidFill>
              </a:defRPr>
            </a:pPr>
            <a:r>
              <a:rPr sz="1050" b="0">
                <a:solidFill>
                  <a:srgbClr val="9BB3BA"/>
                </a:solidFill>
              </a:rPr>
              <a:t>开发、样机、试点数据处理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359BB-B396-4706-9E28-9C842A27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31623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84B"/>
                </a:solidFill>
              </a:defRPr>
            </a:pPr>
            <a:r>
              <a:rPr sz="1275" b="1">
                <a:solidFill>
                  <a:srgbClr val="F2B84B"/>
                </a:solidFill>
              </a:rPr>
              <a:t>生产验证期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DAB87-5FC6-4CC2-9CCF-8D2FFB24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3143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B"/>
                </a:solidFill>
              </a:defRPr>
            </a:pPr>
            <a:r>
              <a:rPr sz="1425" b="1">
                <a:solidFill>
                  <a:srgbClr val="F6FAFB"/>
                </a:solidFill>
              </a:rPr>
              <a:t>1主 + 1灾备资源预留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0070B-30FE-488A-94DA-0C37BE90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3448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B3BA"/>
                </a:solidFill>
              </a:defRPr>
            </a:pPr>
            <a:r>
              <a:rPr sz="1050" b="0">
                <a:solidFill>
                  <a:srgbClr val="9BB3BA"/>
                </a:solidFill>
              </a:rPr>
              <a:t>Staging、审计归档、演示不中断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5154B-BE9E-415C-B2D3-845BBA76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39814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E2D6"/>
                </a:solidFill>
              </a:defRPr>
            </a:pPr>
            <a:r>
              <a:rPr sz="1275" b="1">
                <a:solidFill>
                  <a:srgbClr val="36E2D6"/>
                </a:solidFill>
              </a:rPr>
              <a:t>平台化期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A7F138-0AB0-4C56-8C42-A40B8B87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3962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B"/>
                </a:solidFill>
              </a:defRPr>
            </a:pPr>
            <a:r>
              <a:rPr sz="1425" b="1">
                <a:solidFill>
                  <a:srgbClr val="F6FAFB"/>
                </a:solidFill>
              </a:rPr>
              <a:t>双中心主动/备用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8E6CB4-0C23-4DC6-8314-7238E5EC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42672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B3BA"/>
                </a:solidFill>
              </a:defRPr>
            </a:pPr>
            <a:r>
              <a:rPr sz="1050" b="0">
                <a:solidFill>
                  <a:srgbClr val="9BB3BA"/>
                </a:solidFill>
              </a:rPr>
              <a:t>跨单位复用、长期审计留存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4DCD2A-62E4-4858-B10E-4E2575D0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1447800"/>
            <a:ext cx="5067300" cy="35814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11F24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B780E9-E754-4C1E-928F-1DFB221E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1752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84B"/>
                </a:solidFill>
              </a:defRPr>
            </a:pPr>
            <a:r>
              <a:rPr sz="1800" b="1">
                <a:solidFill>
                  <a:srgbClr val="F2B84B"/>
                </a:solidFill>
              </a:rPr>
              <a:t>资源规格建议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959282-3EE8-4573-B239-87405D0A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2381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A68552-738C-49F9-8DF3-DFC88E60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23241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B"/>
                </a:solidFill>
              </a:defRPr>
            </a:pPr>
            <a:r>
              <a:rPr sz="1275" b="1">
                <a:solidFill>
                  <a:srgbClr val="F6FAFB"/>
                </a:solidFill>
              </a:rPr>
              <a:t>开发/PoC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15C03-3C63-40A5-8AEE-D075F668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305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6E2D6"/>
                </a:solidFill>
              </a:defRPr>
            </a:pPr>
            <a:r>
              <a:rPr sz="1425" b="1">
                <a:solidFill>
                  <a:srgbClr val="36E2D6"/>
                </a:solidFill>
              </a:rPr>
              <a:t>2–4张48GB级GPU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C12B86-DC50-4D63-893F-BD01C6CD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2609850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B3BA"/>
                </a:solidFill>
              </a:defRPr>
            </a:pPr>
            <a:r>
              <a:rPr sz="1050" b="0">
                <a:solidFill>
                  <a:srgbClr val="9BB3BA"/>
                </a:solidFill>
              </a:rPr>
              <a:t>32–64 CPU核 · 256–512GB内存 · 20–50TB存储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E1F901-742B-4255-8EC3-92F2F194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3200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C522C5-4D62-4B9A-BA90-66E05D49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314325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B"/>
                </a:solidFill>
              </a:defRPr>
            </a:pPr>
            <a:r>
              <a:rPr sz="1275" b="1">
                <a:solidFill>
                  <a:srgbClr val="F6FAFB"/>
                </a:solidFill>
              </a:rPr>
              <a:t>生产验证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661FAC-6F79-43FE-996F-51708E31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31242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84B"/>
                </a:solidFill>
              </a:defRPr>
            </a:pPr>
            <a:r>
              <a:rPr sz="1425" b="1">
                <a:solidFill>
                  <a:srgbClr val="F2B84B"/>
                </a:solidFill>
              </a:rPr>
              <a:t>4–8张数据中心GPU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F78CA5-847C-4805-AD5E-E2258B38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3429000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B3BA"/>
                </a:solidFill>
              </a:defRPr>
            </a:pPr>
            <a:r>
              <a:rPr sz="1050" b="0">
                <a:solidFill>
                  <a:srgbClr val="9BB3BA"/>
                </a:solidFill>
              </a:rPr>
              <a:t>128–256 CPU核 · 1–2TB内存 · 100TB+存储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63664F-CF82-419C-B22F-E6120D5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4019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799A8D-00D6-40C1-BE59-77861F85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39624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AFB"/>
                </a:solidFill>
              </a:defRPr>
            </a:pPr>
            <a:r>
              <a:rPr sz="1275" b="1">
                <a:solidFill>
                  <a:srgbClr val="F6FAFB"/>
                </a:solidFill>
              </a:rPr>
              <a:t>平台扩展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2EF331-AC9E-4E7B-88AF-93197B37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3943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6E2D6"/>
                </a:solidFill>
              </a:defRPr>
            </a:pPr>
            <a:r>
              <a:rPr sz="1425" b="1">
                <a:solidFill>
                  <a:srgbClr val="36E2D6"/>
                </a:solidFill>
              </a:rPr>
              <a:t>8–16张GPU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7259A3-1A90-4A40-A345-AFE9FA0A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4248150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B3BA"/>
                </a:solidFill>
              </a:defRPr>
            </a:pPr>
            <a:r>
              <a:rPr sz="1050" b="0">
                <a:solidFill>
                  <a:srgbClr val="9BB3BA"/>
                </a:solidFill>
              </a:rPr>
              <a:t>双中心容灾 · 300TB+对象存储 · 统一审计日志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05D24E-7C1C-4204-9B29-27AE6255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54673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依据公开硬件规格测算：L40S为48GB/350W级数据中心GPU；更高端H200为141GB HBM3e级GPU。实际选型以国产化、采购渠道和安全要求为准。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7492A5-7F73-40B2-96E6-89960F1A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531939-D4FF-44B0-BE76-C1764C77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13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85D589-6678-46BB-A222-7774C07A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05581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DBFC1-728B-4844-A04A-3AB6742B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84BD9-854E-4021-8018-6CEA7078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3D598-93A3-4AAE-B413-40BCA9C2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C5468-5BC4-4172-B1BD-4EC253A3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F5999-DD28-4E21-AE1C-F7CD8FC0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F01EC-489E-4717-8E55-362FD8B0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A322C-A051-49F2-98BD-266A918E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77B96-8252-441E-9C96-1D53E2F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DBD41-75FD-47AC-BF45-5A8A6D0D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B23C1-9459-4D0C-9E26-F912FE94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331C2-95F2-4C6F-A7B8-4396EB9A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74FA6-46C5-45AA-918E-CAB76F2B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57875-D772-404F-95CF-F322C49F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Delivery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D2901-07C3-4CD7-B5DB-0517BCAA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实施方式：六个交付包，阶段验收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4E7A3-29F4-4D7A-8F33-4EAA134A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1600200"/>
            <a:ext cx="2971800" cy="12192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E2127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A44F9-803B-41DE-A3A9-594BC79E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771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E2D6"/>
                </a:solidFill>
              </a:defRPr>
            </a:pPr>
            <a:r>
              <a:rPr sz="1650" b="1">
                <a:solidFill>
                  <a:srgbClr val="36E2D6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D5D75-9639-4C42-B7DB-D6D98BDD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7716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B"/>
                </a:solidFill>
              </a:defRPr>
            </a:pPr>
            <a:r>
              <a:rPr sz="1575" b="1">
                <a:solidFill>
                  <a:srgbClr val="F6FAFB"/>
                </a:solidFill>
              </a:rPr>
              <a:t>需求与数据治理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7E597-BB72-49FD-8089-0B3FEC78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22288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资料清单、脱敏边界、试点系统选择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BC5F2-F8BB-44A2-A8E0-451E6696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1600200"/>
            <a:ext cx="2971800" cy="12192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E2127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98318-E373-474D-B19C-DD12C6E8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1771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</a:defRPr>
            </a:pPr>
            <a:r>
              <a:rPr sz="1650" b="1">
                <a:solidFill>
                  <a:srgbClr val="F2B84B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8156B-D083-499A-A56B-5E855630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17716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B"/>
                </a:solidFill>
              </a:defRPr>
            </a:pPr>
            <a:r>
              <a:rPr sz="1575" b="1">
                <a:solidFill>
                  <a:srgbClr val="F6FAFB"/>
                </a:solidFill>
              </a:rPr>
              <a:t>系统适配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C34A2-BA6C-4EEF-A007-5228C802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2288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控制逻辑节点、硬件映射、接口元数据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06765B-EB28-416F-8E12-4AAC2342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1600200"/>
            <a:ext cx="2971800" cy="12192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E2127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887D8-B48A-44AC-BB24-A927F525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1771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E2D6"/>
                </a:solidFill>
              </a:defRPr>
            </a:pPr>
            <a:r>
              <a:rPr sz="1650" b="1">
                <a:solidFill>
                  <a:srgbClr val="36E2D6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1F5C9E-96C3-4518-B084-EB1B3A0D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7716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B"/>
                </a:solidFill>
              </a:defRPr>
            </a:pPr>
            <a:r>
              <a:rPr sz="1575" b="1">
                <a:solidFill>
                  <a:srgbClr val="F6FAFB"/>
                </a:solidFill>
              </a:rPr>
              <a:t>仿真与诊断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D0603-3CFF-4D62-8150-E1F957FC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2288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时间线、故障注入、批量回放、根因链路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BF4F39-33F6-4A08-B488-81CB96D7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295650"/>
            <a:ext cx="2971800" cy="12192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E2127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A5BE95-AA66-430C-A31C-0410EE2E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4671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</a:defRPr>
            </a:pPr>
            <a:r>
              <a:rPr sz="1650" b="1">
                <a:solidFill>
                  <a:srgbClr val="F2B84B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3407AE-CCF5-429B-AC85-6CF9AABC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34671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B"/>
                </a:solidFill>
              </a:defRPr>
            </a:pPr>
            <a:r>
              <a:rPr sz="1575" b="1">
                <a:solidFill>
                  <a:srgbClr val="F6FAFB"/>
                </a:solidFill>
              </a:rPr>
              <a:t>展示工作台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3E724-8756-4EE1-8427-328C5D44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392430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正式演示界面、工程操作界面、报告输出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30BAFE-9363-4F27-B9E6-FDE99AAF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3295650"/>
            <a:ext cx="2971800" cy="12192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E2127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C46983-E12C-46A5-93BD-02F4F84C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34671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E2D6"/>
                </a:solidFill>
              </a:defRPr>
            </a:pPr>
            <a:r>
              <a:rPr sz="1650" b="1">
                <a:solidFill>
                  <a:srgbClr val="36E2D6"/>
                </a:solidFill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878235-D67A-46F7-96AB-5F757A9E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34671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B"/>
                </a:solidFill>
              </a:defRPr>
            </a:pPr>
            <a:r>
              <a:rPr sz="1575" b="1">
                <a:solidFill>
                  <a:srgbClr val="F6FAFB"/>
                </a:solidFill>
              </a:rPr>
              <a:t>安全与审计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9DAACB-9C3B-45AC-99B8-82424679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92430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权限、日志、版本、复现、第三方测评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56BB5-D49F-4223-8BAF-DC4C7D19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295650"/>
            <a:ext cx="2971800" cy="12192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E2127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487389-07A7-49FE-A5DE-994A58A0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4671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</a:defRPr>
            </a:pPr>
            <a:r>
              <a:rPr sz="1650" b="1">
                <a:solidFill>
                  <a:srgbClr val="F2B84B"/>
                </a:solidFill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FB02CE-A3B0-475B-B896-C75FCA8C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34671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B"/>
                </a:solidFill>
              </a:defRPr>
            </a:pPr>
            <a:r>
              <a:rPr sz="1575" b="1">
                <a:solidFill>
                  <a:srgbClr val="F6FAFB"/>
                </a:solidFill>
              </a:rPr>
              <a:t>部署运维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95E205-3260-4432-892B-BD163468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92430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3BA"/>
                </a:solidFill>
              </a:defRPr>
            </a:pPr>
            <a:r>
              <a:rPr sz="1125" b="0">
                <a:solidFill>
                  <a:srgbClr val="9BB3BA"/>
                </a:solidFill>
              </a:rPr>
              <a:t>数据中心部署、备份、监控、培训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1366E8-D281-4664-855A-C9A2FBF2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5314950"/>
            <a:ext cx="8191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1F25"/>
          </a:solidFill>
          <a:ln xmlns:a="http://schemas.openxmlformats.org/drawingml/2006/main" w="11430">
            <a:solidFill>
              <a:srgbClr val="37D98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B10870-9372-4BD0-9538-CC32BE41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5448300"/>
            <a:ext cx="7543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21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7D98B"/>
                </a:solidFill>
              </a:defRPr>
            </a:pPr>
            <a:r>
              <a:rPr sz="1425" b="1">
                <a:solidFill>
                  <a:srgbClr val="37D98B"/>
                </a:solidFill>
              </a:rPr>
              <a:t>验收机制：每个阶段输出可演示界面 + 可复现测试 + 可归档报告，避免“只交文档”。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0E3FC1-D2A6-43A3-AC1D-EADE1DD3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6B3799-0172-4891-A663-1DB5915A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14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E64A0C-D151-4F93-96C9-C8AD67AE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21959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9C5DB-4C12-45DF-A304-8F9C7FA0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CB9B4-59AA-4ED1-971E-E70071A7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3628F-EF16-49B2-9389-A7BD0DE9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F00CE-973C-414D-B0F0-BED0967E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4F7D8-7675-4AC3-B113-47A20871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B1578-99D4-48DA-ACB9-B19147BC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A758F-D553-4828-B526-68488131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2935D-590E-4223-BF98-1E681DA5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1C277-20AB-453D-8FC7-F11AE35D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7281F-4788-474B-AC0B-A8A07A83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AA3F9-356D-4F26-9136-A409D0E3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A9655-B33E-4BE9-87C4-24940A2D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1244F-C6C0-4438-9165-843D9680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Risk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A1658-0173-4264-BB63-244F51EB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风险控制：用工程边界降低不确定性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DDC4B-A054-4B90-BECB-50CBE359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466850"/>
            <a:ext cx="9525000" cy="5524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B1C22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E3558-0FDB-4D2A-A6C4-4919142D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1647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C17BE-B406-4654-9DED-7FC90027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16192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AI幻觉风险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63A5D-C5BD-47F1-ADA1-54A4B45C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1609725"/>
            <a:ext cx="607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3BA"/>
                </a:solidFill>
              </a:defRPr>
            </a:pPr>
            <a:r>
              <a:rPr sz="1350" b="0">
                <a:solidFill>
                  <a:srgbClr val="9BB3BA"/>
                </a:solidFill>
              </a:rPr>
              <a:t>真值在AI上游，AI只做解释和报告，不直接决定控制逻辑。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986D8-1F4A-4F2B-8DBD-7A47437E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247900"/>
            <a:ext cx="9525000" cy="5524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232B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25AB6-5970-4E2E-9E9D-612E9DE4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2428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9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FB3D2-7754-420F-8914-A791ACFB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2400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数据安全风险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12C75-BCEC-4D6F-88AB-39F92729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2390775"/>
            <a:ext cx="607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3BA"/>
                </a:solidFill>
              </a:defRPr>
            </a:pPr>
            <a:r>
              <a:rPr sz="1350" b="0">
                <a:solidFill>
                  <a:srgbClr val="9BB3BA"/>
                </a:solidFill>
              </a:rPr>
              <a:t>试点数据在内网/私有化环境处理，敏感资料按最小化授权。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C849D7-B721-4325-9AE9-2DCC7FB2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28950"/>
            <a:ext cx="9525000" cy="5524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B1C22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EAD41-AF8B-4426-AF66-0AC4D29E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D8A69-D075-41F5-91EC-2D06E0AC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3181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范围失控风险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C24E62-01A6-44A8-B1D5-C2E57170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171825"/>
            <a:ext cx="607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3BA"/>
                </a:solidFill>
              </a:defRPr>
            </a:pPr>
            <a:r>
              <a:rPr sz="1350" b="0">
                <a:solidFill>
                  <a:srgbClr val="9BB3BA"/>
                </a:solidFill>
              </a:rPr>
              <a:t>先1个子系统PoC，再扩展到3–5个；超过范围进入二期评估。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ED9112-AEE0-4D9C-AB4A-D33013D9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810000"/>
            <a:ext cx="9525000" cy="5524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232B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851881-7BDA-4F87-A8BC-37DE0F5D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3990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FCC7A6-F29D-4727-AFB0-11846C9A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39624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算力浪费风险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F7530F-D4A5-4089-8063-0E38270C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952875"/>
            <a:ext cx="607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3BA"/>
                </a:solidFill>
              </a:defRPr>
            </a:pPr>
            <a:r>
              <a:rPr sz="1350" b="0">
                <a:solidFill>
                  <a:srgbClr val="9BB3BA"/>
                </a:solidFill>
              </a:rPr>
              <a:t>分阶段采购/分阶段上架，先资源池，后生产验证集群。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7BED55-21E3-474E-9779-4FAFDD6B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591050"/>
            <a:ext cx="9525000" cy="5524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B1C22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69312D-F23B-41C8-8642-063B8E84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4772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9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806120-E9CC-46DB-99A2-3CAD50AC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4743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B"/>
                </a:solidFill>
              </a:defRPr>
            </a:pPr>
            <a:r>
              <a:rPr sz="1500" b="1">
                <a:solidFill>
                  <a:srgbClr val="F6FAFB"/>
                </a:solidFill>
              </a:rPr>
              <a:t>审计不可追溯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640B51-F122-44BC-A276-D6CD3695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4733925"/>
            <a:ext cx="607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3BA"/>
                </a:solidFill>
              </a:defRPr>
            </a:pPr>
            <a:r>
              <a:rPr sz="1350" b="0">
                <a:solidFill>
                  <a:srgbClr val="9BB3BA"/>
                </a:solidFill>
              </a:rPr>
              <a:t>每次验证绑定输入、版本、测试、报告、哈希和责任边界。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35DF99-D0C1-483B-8AA2-7A6EEC53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3D2AC4-E80F-44DC-856D-45EB6D1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15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13E07C-847C-4827-9DCC-9007E211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85047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17C6A-AF7C-4676-ACBD-7477E181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10E20-2F8A-4C46-B841-9A5F1FF8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4ED29-2167-418B-A7AE-388E8C00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F9758-E6DB-40F9-B958-F630FA17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9CB33-46EC-4C39-8AE9-48080212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49636-5488-46CC-9F9E-EACADDAC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9B506-CF45-463A-B32C-3BE95F40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8B009-FBE0-468D-B43E-5D9E4286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D4E97-65DB-44D7-B0A4-3B47097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21C17-B31D-4081-BC66-39D828B0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AB9A6-12E7-4311-A87D-D79553BD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F902A-5289-4363-9E4E-FD709576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86274-1F15-4B3C-BFF7-05A2ACFB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Expected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D128B-3542-47DE-B045-317F867E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预期价值：形成可复用的工业软件能力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E9791-9E2E-4473-9E18-DE64FDC1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1676400"/>
            <a:ext cx="4457700" cy="12001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0272C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5FACB-980E-4462-B0D1-0082E508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19050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4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E2D6"/>
                </a:solidFill>
              </a:defRPr>
            </a:pPr>
            <a:r>
              <a:rPr sz="1800" b="1">
                <a:solidFill>
                  <a:srgbClr val="36E2D6"/>
                </a:solidFill>
              </a:rPr>
              <a:t>专家经验产品化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440F1-0F1A-474E-B7ED-E89217C8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23431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把少数专家的诊断路径沉淀为可演示、可复现、可培训的工作台。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76FF4-A13D-4231-B61A-38B78C98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1676400"/>
            <a:ext cx="4457700" cy="12001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6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3AB8F-835A-428F-9397-99E05FE1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19050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4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84B"/>
                </a:solidFill>
              </a:defRPr>
            </a:pPr>
            <a:r>
              <a:rPr sz="1800" b="1">
                <a:solidFill>
                  <a:srgbClr val="F2B84B"/>
                </a:solidFill>
              </a:rPr>
              <a:t>验证过程标准化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ACEF9-2E2D-4FED-AAF6-E2BD2D64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23431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把文档、仿真、故障注入、诊断报告、审计归档统一成闭环。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30E7D-9B17-45B7-9C10-6AD79B6C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3295650"/>
            <a:ext cx="4457700" cy="12001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6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E2327-1F1D-4E62-B701-7C42768F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35242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4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E2D6"/>
                </a:solidFill>
              </a:defRPr>
            </a:pPr>
            <a:r>
              <a:rPr sz="1800" b="1">
                <a:solidFill>
                  <a:srgbClr val="36E2D6"/>
                </a:solidFill>
              </a:rPr>
              <a:t>跨系统复用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CE9D6B-C45C-457A-9DAC-6AC9FD2B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39624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同一套适配器边界可逐步承载反推、起落架、引气等控制系统。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B35D0-9EF1-469C-9E53-46CB744C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3295650"/>
            <a:ext cx="4457700" cy="12001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6"/>
          </a:solidFill>
          <a:ln xmlns:a="http://schemas.openxmlformats.org/drawingml/2006/main" w="11430">
            <a:solidFill>
              <a:srgbClr val="2C596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ABB46F-C390-47BC-AA87-F2DCE38C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35242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4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84B"/>
                </a:solidFill>
              </a:defRPr>
            </a:pPr>
            <a:r>
              <a:rPr sz="1800" b="1">
                <a:solidFill>
                  <a:srgbClr val="F2B84B"/>
                </a:solidFill>
              </a:rPr>
              <a:t>国产可控路线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73A3DC-6FBD-46F8-B5D3-856E1B92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39624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3BA"/>
                </a:solidFill>
              </a:defRPr>
            </a:pPr>
            <a:r>
              <a:rPr sz="1200" b="0">
                <a:solidFill>
                  <a:srgbClr val="9BB3BA"/>
                </a:solidFill>
              </a:rPr>
              <a:t>私有化部署、本地模型辅助解释、数据中心资源可由集团掌控。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B568D2-FB81-45CB-8DD0-27952A96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5219700"/>
            <a:ext cx="8477250" cy="4572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B2718"/>
          </a:solidFill>
          <a:ln xmlns:a="http://schemas.openxmlformats.org/drawingml/2006/main" w="11430">
            <a:solidFill>
              <a:srgbClr val="37D98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C808D1-FCCE-4A1C-A563-DFFC9A5E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5353050"/>
            <a:ext cx="782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9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7D98B"/>
                </a:solidFill>
              </a:defRPr>
            </a:pPr>
            <a:r>
              <a:rPr sz="1350" b="1">
                <a:solidFill>
                  <a:srgbClr val="37D98B"/>
                </a:solidFill>
              </a:rPr>
              <a:t>阶段性目标：把“小时级人工分析”逐步压缩为“分钟级可复现验证”，最终以试点实测指标确认。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0420F-B66F-4AD9-88F2-6CD70D6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5B1E0F-85B1-4F0E-8C84-A9781282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7C4231-3C28-46C9-A5F0-4AA23198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4144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BFEC26-CC7E-42DF-B639-3D20F38911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BDFFC-8D43-400A-BCAD-FC3030CE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9498C-7559-4077-B0C3-49822748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99471-2642-44B6-A2D0-BD79681C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7E8F8-991A-4511-9894-038B7418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4ADC3-F47D-455E-9FBC-CD4C8A19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6D679-9F8C-45A8-AC08-F894D7DB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329AF-1294-4B4C-8AA8-A7FCF60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BD9EF-4F6B-4537-81E6-7984DD63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E74D2-DA5F-4180-971F-4A231ABE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EBC6C-DE13-41C5-9CB7-94B7F4CE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144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4236E-9D5B-4C84-8A0F-1BEB3BD5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9050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D365C-2401-4302-937A-A780394B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95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52A00-C7EB-4E2A-B0EA-2BB14F6A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E2D6"/>
                </a:solidFill>
              </a:defRPr>
            </a:pPr>
            <a:r>
              <a:rPr sz="1200" b="1">
                <a:solidFill>
                  <a:srgbClr val="36E2D6"/>
                </a:solidFill>
              </a:rPr>
              <a:t>Approval 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F9706-307E-4AED-93A6-B9A14E5A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85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AFB"/>
                </a:solidFill>
              </a:defRPr>
            </a:pPr>
            <a:r>
              <a:rPr sz="2700" b="1">
                <a:solidFill>
                  <a:srgbClr val="F6FAFB"/>
                </a:solidFill>
              </a:rPr>
              <a:t>立项请求：批准进入18个月生产验证建设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6AE55-2246-473C-A237-B7AFCEB2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1485900"/>
            <a:ext cx="9886950" cy="31813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0D2026"/>
          </a:solidFill>
          <a:ln xmlns:a="http://schemas.openxmlformats.org/drawingml/2006/main" w="13335">
            <a:solidFill>
              <a:srgbClr val="00B7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CADB7-7934-4ADD-B23C-7999D83C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1809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E2D6"/>
                </a:solidFill>
              </a:defRPr>
            </a:pPr>
            <a:r>
              <a:rPr sz="1800" b="1">
                <a:solidFill>
                  <a:srgbClr val="36E2D6"/>
                </a:solidFill>
              </a:rPr>
              <a:t>建议批准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01C57-2D64-4CEB-BBDF-26E58E7C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8731E-B166-4AA8-AFF5-6F381C50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343150"/>
            <a:ext cx="802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AFB"/>
                </a:solidFill>
              </a:defRPr>
            </a:pPr>
            <a:r>
              <a:rPr sz="1275" b="0">
                <a:solidFill>
                  <a:srgbClr val="F6FAFB"/>
                </a:solidFill>
              </a:rPr>
              <a:t>按1800–2600万元区间启动生产验证型立项，建议中值2200万元。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6AE43-53FD-4841-9738-D5E941F7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6E028-BAB0-4D4A-8C8C-55D0C570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838450"/>
            <a:ext cx="802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AFB"/>
                </a:solidFill>
              </a:defRPr>
            </a:pPr>
            <a:r>
              <a:rPr sz="1275" b="0">
                <a:solidFill>
                  <a:srgbClr val="F6FAFB"/>
                </a:solidFill>
              </a:rPr>
              <a:t>授权1个真实子系统作为首个PoC，T0+6个月完成端到端演示。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9DC55-B0C3-4553-91C2-641919CD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04268-A656-45A4-8B11-0116CEBC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333750"/>
            <a:ext cx="802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AFB"/>
                </a:solidFill>
              </a:defRPr>
            </a:pPr>
            <a:r>
              <a:rPr sz="1275" b="0">
                <a:solidFill>
                  <a:srgbClr val="F6FAFB"/>
                </a:solidFill>
              </a:rPr>
              <a:t>提供既有数据中心资源池：首期2–4张GPU，生产验证期扩至4–8张GPU。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93570-BE08-43C6-A3CC-716A1BFD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895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CA760-DBDA-419D-AAF4-644AF424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829050"/>
            <a:ext cx="802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AFB"/>
                </a:solidFill>
              </a:defRPr>
            </a:pPr>
            <a:r>
              <a:rPr sz="1275" b="0">
                <a:solidFill>
                  <a:srgbClr val="F6FAFB"/>
                </a:solidFill>
              </a:rPr>
              <a:t>指定数据、业务、安全、运维接口人，保障资料授权和内网部署。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367AC0-F195-4F48-856E-F8E7EA32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5067300"/>
            <a:ext cx="8572500" cy="571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2D2817"/>
          </a:solidFill>
          <a:ln xmlns:a="http://schemas.openxmlformats.org/drawingml/2006/main" w="13335">
            <a:solidFill>
              <a:srgbClr val="F2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48B5F-057A-4EF4-AF19-013C34D0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5238750"/>
            <a:ext cx="784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4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84B"/>
                </a:solidFill>
              </a:defRPr>
            </a:pPr>
            <a:r>
              <a:rPr sz="1650" b="1">
                <a:solidFill>
                  <a:srgbClr val="F2B84B"/>
                </a:solidFill>
              </a:rPr>
              <a:t>通过立项后30天内交付：项目章程、数据清单、试点方案、当前样机正式演示版。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2CE27E-0697-4CFA-B5FD-243ABBC9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7078"/>
                </a:solidFill>
              </a:defRPr>
            </a:pPr>
            <a:r>
              <a:rPr sz="900" b="0">
                <a:solidFill>
                  <a:srgbClr val="587078"/>
                </a:solidFill>
              </a:rPr>
              <a:t>AI FANTUI LogicMVP · 立项申请汇报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EA61D2-76AB-4AED-8256-59B59117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63436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6E2D6"/>
                </a:solidFill>
              </a:defRPr>
            </a:pPr>
            <a:r>
              <a:rPr sz="1350" b="1">
                <a:solidFill>
                  <a:srgbClr val="36E2D6"/>
                </a:solidFill>
              </a:rPr>
              <a:t>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9B764B-01A4-4B60-9195-5F245C45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1"/>
          </a:solidFill>
          <a:ln xmlns:a="http://schemas.openxmlformats.org/drawingml/2006/main" w="0">
            <a:solidFill>
              <a:srgbClr val="2C5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5391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2026-04-23T16:44:02.7900000Z</dcterms:created>
  <dcterms:modified xsi:type="dcterms:W3CDTF">2026-04-23T16:44:02.7900000Z</dcterms:modified>
</coreProperties>
</file>